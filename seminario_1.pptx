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2" r:id="rId5"/>
    <p:sldId id="282" r:id="rId6"/>
    <p:sldId id="263" r:id="rId7"/>
    <p:sldId id="266" r:id="rId8"/>
    <p:sldId id="293" r:id="rId9"/>
    <p:sldId id="264" r:id="rId10"/>
    <p:sldId id="265" r:id="rId11"/>
    <p:sldId id="294" r:id="rId12"/>
    <p:sldId id="260" r:id="rId13"/>
    <p:sldId id="261" r:id="rId14"/>
    <p:sldId id="267" r:id="rId15"/>
    <p:sldId id="271" r:id="rId16"/>
    <p:sldId id="272" r:id="rId17"/>
    <p:sldId id="273" r:id="rId18"/>
    <p:sldId id="270" r:id="rId19"/>
    <p:sldId id="268" r:id="rId20"/>
    <p:sldId id="274" r:id="rId21"/>
    <p:sldId id="275" r:id="rId22"/>
    <p:sldId id="276" r:id="rId23"/>
    <p:sldId id="277" r:id="rId24"/>
    <p:sldId id="278" r:id="rId25"/>
    <p:sldId id="279" r:id="rId26"/>
    <p:sldId id="280" r:id="rId27"/>
    <p:sldId id="284" r:id="rId28"/>
    <p:sldId id="259" r:id="rId29"/>
    <p:sldId id="283"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25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241429-304F-2F50-4223-2E042F4486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B6329B2F-B698-174E-3324-C5CD33186C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AA8BCAB-7C61-6F6E-6602-743314621560}"/>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8A583672-39F8-A1FE-060F-8B411AD58A4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F7B36C0-A0A3-2891-BE00-169B83966326}"/>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31499032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BF9ED8-DFF5-CE9C-0B05-B26048D94D2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FA8D5B5-3BD7-39DB-591C-BBB398806E0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F18F562-95A0-1691-A9F7-9EAACE9BDFC2}"/>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FC01B51B-0644-BE11-5AD9-7924E964E3D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1031B1-FE7A-B8CB-28BA-4EAEA5BFE667}"/>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3372979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E3AC0E9-A4C1-E7AE-53A2-DD3AC3D98F6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97C41F74-EA8B-15CF-990C-E8FFA98B63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449D745D-1DE2-962F-7416-71A0A411BF43}"/>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E95DD03D-4CEE-8CBE-578C-7FE236114E9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D6DBEF2-8466-6953-E26D-31E749189665}"/>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2593109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CD09CE-B24B-D5AA-E08D-315A8A39816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59BDD9E-441E-E9D0-B185-5A1DE64CD1E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825844E9-D9F7-C57B-FE9E-29CCFF893AD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7384A250-5800-9E1C-1D38-945746878C91}"/>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6" name="Marcador de pie de página 5">
            <a:extLst>
              <a:ext uri="{FF2B5EF4-FFF2-40B4-BE49-F238E27FC236}">
                <a16:creationId xmlns:a16="http://schemas.microsoft.com/office/drawing/2014/main" id="{5ADB5634-8974-B669-A40B-8E5C2E25FE8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5B3E563-C2AE-E683-DAA0-B2183569249E}"/>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23999026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A3DD5E-656A-38B6-ECBC-39702AACCE6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E5A01F43-05E1-65D4-99AF-0D4645405B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B379095E-16A5-9557-5520-5B617DB66D9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91A124C-4EC7-CF7D-40CA-026926B17C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F5A47C4-8F10-C12E-8277-7125727FDE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3469DDD9-BDA0-53BD-5819-D2AB99EB3C36}"/>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8" name="Marcador de pie de página 7">
            <a:extLst>
              <a:ext uri="{FF2B5EF4-FFF2-40B4-BE49-F238E27FC236}">
                <a16:creationId xmlns:a16="http://schemas.microsoft.com/office/drawing/2014/main" id="{1BA711D7-186F-BBFF-3D64-36EA9AE04A1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1B9F4EA5-30E9-FC61-149D-D41A16B7DDC4}"/>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3670193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B2401C-79E5-03FE-695B-C73A245A322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CB09FF9C-5B75-F48B-5B43-650CF9B0D872}"/>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4" name="Marcador de pie de página 3">
            <a:extLst>
              <a:ext uri="{FF2B5EF4-FFF2-40B4-BE49-F238E27FC236}">
                <a16:creationId xmlns:a16="http://schemas.microsoft.com/office/drawing/2014/main" id="{63597B33-8CAB-0407-4DD8-67E6F5E6FA00}"/>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12A33AFE-CA22-8525-F0F2-9F7219463182}"/>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1857568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107B5CF-DA01-6C16-C1B8-77BA427F53D5}"/>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3" name="Marcador de pie de página 2">
            <a:extLst>
              <a:ext uri="{FF2B5EF4-FFF2-40B4-BE49-F238E27FC236}">
                <a16:creationId xmlns:a16="http://schemas.microsoft.com/office/drawing/2014/main" id="{9A6622BB-F4EB-DB3F-3B3E-97B5E742337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1FD5354-ACBB-2D8E-738D-B03598D1310E}"/>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26656455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7D7EA1-C47B-612B-4DBC-292DF58AC26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5D2CB92-33AA-0516-5899-FD6578555A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38D9ADC7-B39D-CBE2-1E65-897679D534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64BF014-AFA3-E920-E2E1-51324FAA0033}"/>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6" name="Marcador de pie de página 5">
            <a:extLst>
              <a:ext uri="{FF2B5EF4-FFF2-40B4-BE49-F238E27FC236}">
                <a16:creationId xmlns:a16="http://schemas.microsoft.com/office/drawing/2014/main" id="{89B13D78-6BE6-1A31-5715-DF271BAE108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4CD5AD88-3500-1A5B-8EF7-97021C5AE051}"/>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3434538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49AA31-51BB-B25A-1F39-E37FF04E321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8901415C-6470-5C77-A866-33D7A61354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B6A3BDC3-70C0-1894-015F-57F398902C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4036A00-6066-2C17-BA7D-F85CF782C48E}"/>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6" name="Marcador de pie de página 5">
            <a:extLst>
              <a:ext uri="{FF2B5EF4-FFF2-40B4-BE49-F238E27FC236}">
                <a16:creationId xmlns:a16="http://schemas.microsoft.com/office/drawing/2014/main" id="{55C91A10-0056-6C32-8F04-5A718D2344C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270BF14F-E8E4-33E3-B9ED-0F5ECBE66A5E}"/>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3342759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CC539E-1CF1-FC56-CF12-73BD482E86EC}"/>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31D0387-04B3-30F3-3639-7B35D0C74E1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01EC7F0-9693-AF8E-16C9-81EF51961205}"/>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04BE546E-081C-0EDB-1480-61213AE7D30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5CEE631-9ABF-AA7B-85A3-348B13E99A35}"/>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4009399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F1DBAB7-685E-7F99-9C5A-6D74A52D7AF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59A4E76-9854-1B5A-443F-406AD0DDA71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E9597355-44EE-7017-5196-22ECE526EA9C}"/>
              </a:ext>
            </a:extLst>
          </p:cNvPr>
          <p:cNvSpPr>
            <a:spLocks noGrp="1"/>
          </p:cNvSpPr>
          <p:nvPr>
            <p:ph type="dt" sz="half" idx="10"/>
          </p:nvPr>
        </p:nvSpPr>
        <p:spPr/>
        <p:txBody>
          <a:body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A892053D-86CD-07BF-E88A-8851244232B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8ED62FD-3EC8-1B4F-03CD-0B53B75E5A3D}"/>
              </a:ext>
            </a:extLst>
          </p:cNvPr>
          <p:cNvSpPr>
            <a:spLocks noGrp="1"/>
          </p:cNvSpPr>
          <p:nvPr>
            <p:ph type="sldNum" sz="quarter" idx="12"/>
          </p:nvPr>
        </p:nvSpPr>
        <p:spPr/>
        <p:txBody>
          <a:bodyPr/>
          <a:lstStyle/>
          <a:p>
            <a:fld id="{0CF123AE-93E5-49C1-8E60-765C55B9A866}" type="slidenum">
              <a:rPr lang="es-ES" smtClean="0"/>
              <a:t>‹Nº›</a:t>
            </a:fld>
            <a:endParaRPr lang="es-ES"/>
          </a:p>
        </p:txBody>
      </p:sp>
    </p:spTree>
    <p:extLst>
      <p:ext uri="{BB962C8B-B14F-4D97-AF65-F5344CB8AC3E}">
        <p14:creationId xmlns:p14="http://schemas.microsoft.com/office/powerpoint/2010/main" val="17944404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C1E392A-D8DD-2F16-D4E9-58DFCAF47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049F7C01-BF98-2AA3-E65D-39E0548E12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461AAC5-006D-1EC0-FF95-DB81B07C51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DCEF90-F00F-4F80-8467-EA43156FD648}" type="datetimeFigureOut">
              <a:rPr lang="es-ES" smtClean="0"/>
              <a:t>10/03/2026</a:t>
            </a:fld>
            <a:endParaRPr lang="es-ES"/>
          </a:p>
        </p:txBody>
      </p:sp>
      <p:sp>
        <p:nvSpPr>
          <p:cNvPr id="5" name="Marcador de pie de página 4">
            <a:extLst>
              <a:ext uri="{FF2B5EF4-FFF2-40B4-BE49-F238E27FC236}">
                <a16:creationId xmlns:a16="http://schemas.microsoft.com/office/drawing/2014/main" id="{51CA6F75-C821-F031-4777-7A6C9A1A05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8B6A45BE-5994-AD29-35B1-6600B6EB26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F123AE-93E5-49C1-8E60-765C55B9A866}" type="slidenum">
              <a:rPr lang="es-ES" smtClean="0"/>
              <a:t>‹Nº›</a:t>
            </a:fld>
            <a:endParaRPr lang="es-ES"/>
          </a:p>
        </p:txBody>
      </p:sp>
    </p:spTree>
    <p:extLst>
      <p:ext uri="{BB962C8B-B14F-4D97-AF65-F5344CB8AC3E}">
        <p14:creationId xmlns:p14="http://schemas.microsoft.com/office/powerpoint/2010/main" val="27997650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3.jp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2" Type="http://schemas.openxmlformats.org/officeDocument/2006/relationships/image" Target="../media/image5.jp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2" Type="http://schemas.openxmlformats.org/officeDocument/2006/relationships/image" Target="../media/image7.jp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CC76CC-F38F-A408-84CB-E720C9CAD101}"/>
              </a:ext>
            </a:extLst>
          </p:cNvPr>
          <p:cNvSpPr>
            <a:spLocks noGrp="1"/>
          </p:cNvSpPr>
          <p:nvPr>
            <p:ph type="ctrTitle"/>
          </p:nvPr>
        </p:nvSpPr>
        <p:spPr/>
        <p:txBody>
          <a:bodyPr/>
          <a:lstStyle/>
          <a:p>
            <a:endParaRPr lang="es-ES" noProof="0" dirty="0"/>
          </a:p>
        </p:txBody>
      </p:sp>
      <p:sp>
        <p:nvSpPr>
          <p:cNvPr id="3" name="Subtítulo 2">
            <a:extLst>
              <a:ext uri="{FF2B5EF4-FFF2-40B4-BE49-F238E27FC236}">
                <a16:creationId xmlns:a16="http://schemas.microsoft.com/office/drawing/2014/main" id="{82FB179E-D90E-8549-6900-C230CDD05EC2}"/>
              </a:ext>
            </a:extLst>
          </p:cNvPr>
          <p:cNvSpPr>
            <a:spLocks noGrp="1"/>
          </p:cNvSpPr>
          <p:nvPr>
            <p:ph type="subTitle" idx="1"/>
          </p:nvPr>
        </p:nvSpPr>
        <p:spPr/>
        <p:txBody>
          <a:bodyPr/>
          <a:lstStyle/>
          <a:p>
            <a:endParaRPr lang="es-ES" noProof="0" dirty="0"/>
          </a:p>
        </p:txBody>
      </p:sp>
      <p:pic>
        <p:nvPicPr>
          <p:cNvPr id="7" name="Imagen 6" descr="Imagen que contiene texto, libro, puesto&#10;&#10;El contenido generado por IA puede ser incorrecto.">
            <a:extLst>
              <a:ext uri="{FF2B5EF4-FFF2-40B4-BE49-F238E27FC236}">
                <a16:creationId xmlns:a16="http://schemas.microsoft.com/office/drawing/2014/main" id="{5E56223C-8D11-0387-C788-C2BFB7EB3B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1849" y="0"/>
            <a:ext cx="4848301" cy="6858000"/>
          </a:xfrm>
          <a:prstGeom prst="rect">
            <a:avLst/>
          </a:prstGeom>
        </p:spPr>
      </p:pic>
    </p:spTree>
    <p:extLst>
      <p:ext uri="{BB962C8B-B14F-4D97-AF65-F5344CB8AC3E}">
        <p14:creationId xmlns:p14="http://schemas.microsoft.com/office/powerpoint/2010/main" val="1789720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descr="Texto, Carta&#10;&#10;El contenido generado por IA puede ser incorrecto.">
            <a:extLst>
              <a:ext uri="{FF2B5EF4-FFF2-40B4-BE49-F238E27FC236}">
                <a16:creationId xmlns:a16="http://schemas.microsoft.com/office/drawing/2014/main" id="{2CD702BD-782A-9CFB-D64E-64F66B4517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4158" y="-241160"/>
            <a:ext cx="4943684" cy="8765397"/>
          </a:xfrm>
          <a:prstGeom prst="rect">
            <a:avLst/>
          </a:prstGeom>
        </p:spPr>
      </p:pic>
    </p:spTree>
    <p:extLst>
      <p:ext uri="{BB962C8B-B14F-4D97-AF65-F5344CB8AC3E}">
        <p14:creationId xmlns:p14="http://schemas.microsoft.com/office/powerpoint/2010/main" val="23492706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3E13FFC-DA10-448D-265B-DEE028339866}"/>
              </a:ext>
            </a:extLst>
          </p:cNvPr>
          <p:cNvSpPr>
            <a:spLocks noGrp="1"/>
          </p:cNvSpPr>
          <p:nvPr>
            <p:ph idx="1"/>
          </p:nvPr>
        </p:nvSpPr>
        <p:spPr>
          <a:xfrm>
            <a:off x="838200" y="452176"/>
            <a:ext cx="10325519" cy="5724787"/>
          </a:xfrm>
        </p:spPr>
        <p:txBody>
          <a:bodyPr>
            <a:normAutofit fontScale="77500" lnSpcReduction="20000"/>
          </a:bodyPr>
          <a:lstStyle/>
          <a:p>
            <a:pPr>
              <a:lnSpc>
                <a:spcPct val="150000"/>
              </a:lnSpc>
            </a:pPr>
            <a:r>
              <a:rPr lang="es-ES" sz="5400" noProof="0" dirty="0" err="1">
                <a:latin typeface="Garamond" panose="02020404030301010803" pitchFamily="18" charset="0"/>
              </a:rPr>
              <a:t>σκέ</a:t>
            </a:r>
            <a:r>
              <a:rPr lang="es-ES" sz="5400" noProof="0" dirty="0">
                <a:latin typeface="Garamond" panose="02020404030301010803" pitchFamily="18" charset="0"/>
              </a:rPr>
              <a:t>πτομαι (</a:t>
            </a:r>
            <a:r>
              <a:rPr lang="es-ES" sz="5400" i="1" noProof="0" dirty="0">
                <a:latin typeface="Garamond" panose="02020404030301010803" pitchFamily="18" charset="0"/>
              </a:rPr>
              <a:t>sképtomai)</a:t>
            </a:r>
            <a:r>
              <a:rPr lang="es-ES" sz="5400" noProof="0" dirty="0">
                <a:latin typeface="Garamond" panose="02020404030301010803" pitchFamily="18" charset="0"/>
              </a:rPr>
              <a:t>: mirar atentamente, examinar, considerar o investigar.</a:t>
            </a:r>
          </a:p>
          <a:p>
            <a:pPr>
              <a:lnSpc>
                <a:spcPct val="150000"/>
              </a:lnSpc>
            </a:pPr>
            <a:r>
              <a:rPr lang="es-ES" sz="5400" noProof="0" dirty="0">
                <a:latin typeface="Garamond" panose="02020404030301010803" pitchFamily="18" charset="0"/>
              </a:rPr>
              <a:t>‘</a:t>
            </a:r>
            <a:r>
              <a:rPr lang="es-ES" sz="5400" b="1" noProof="0" dirty="0">
                <a:latin typeface="Garamond" panose="02020404030301010803" pitchFamily="18" charset="0"/>
              </a:rPr>
              <a:t>Escéptico</a:t>
            </a:r>
            <a:r>
              <a:rPr lang="es-ES" sz="5400" noProof="0" dirty="0">
                <a:latin typeface="Garamond" panose="02020404030301010803" pitchFamily="18" charset="0"/>
              </a:rPr>
              <a:t>’ de </a:t>
            </a:r>
            <a:r>
              <a:rPr lang="es-ES" sz="5400" noProof="0" dirty="0" err="1">
                <a:latin typeface="Garamond" panose="02020404030301010803" pitchFamily="18" charset="0"/>
              </a:rPr>
              <a:t>σκε</a:t>
            </a:r>
            <a:r>
              <a:rPr lang="es-ES" sz="5400" noProof="0" dirty="0">
                <a:latin typeface="Garamond" panose="02020404030301010803" pitchFamily="18" charset="0"/>
              </a:rPr>
              <a:t>πτικός (</a:t>
            </a:r>
            <a:r>
              <a:rPr lang="es-ES" sz="5400" i="1" noProof="0" dirty="0">
                <a:latin typeface="Garamond" panose="02020404030301010803" pitchFamily="18" charset="0"/>
              </a:rPr>
              <a:t>skeptikós</a:t>
            </a:r>
            <a:r>
              <a:rPr lang="es-ES" sz="5400" noProof="0" dirty="0">
                <a:latin typeface="Garamond" panose="02020404030301010803" pitchFamily="18" charset="0"/>
              </a:rPr>
              <a:t>) en griego, ‘investigador.’</a:t>
            </a:r>
          </a:p>
          <a:p>
            <a:pPr>
              <a:lnSpc>
                <a:spcPct val="150000"/>
              </a:lnSpc>
            </a:pPr>
            <a:r>
              <a:rPr lang="es-ES" sz="5400" noProof="0" dirty="0">
                <a:latin typeface="Garamond" panose="02020404030301010803" pitchFamily="18" charset="0"/>
              </a:rPr>
              <a:t>Empieza a denominar corrientes específicas en s. I.</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1297278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Imagen 6" descr="Mapa&#10;&#10;El contenido generado por IA puede ser incorrecto.">
            <a:extLst>
              <a:ext uri="{FF2B5EF4-FFF2-40B4-BE49-F238E27FC236}">
                <a16:creationId xmlns:a16="http://schemas.microsoft.com/office/drawing/2014/main" id="{6B5D5216-2CDA-807A-0304-0BAD817B6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9989" y="-38756"/>
            <a:ext cx="6712022" cy="6896756"/>
          </a:xfrm>
          <a:prstGeom prst="rect">
            <a:avLst/>
          </a:prstGeom>
        </p:spPr>
      </p:pic>
    </p:spTree>
    <p:extLst>
      <p:ext uri="{BB962C8B-B14F-4D97-AF65-F5344CB8AC3E}">
        <p14:creationId xmlns:p14="http://schemas.microsoft.com/office/powerpoint/2010/main" val="3013675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69DE796-924A-3D2E-20D3-A935867573DC}"/>
            </a:ext>
          </a:extLst>
        </p:cNvPr>
        <p:cNvGrpSpPr/>
        <p:nvPr/>
      </p:nvGrpSpPr>
      <p:grpSpPr>
        <a:xfrm>
          <a:off x="0" y="0"/>
          <a:ext cx="0" cy="0"/>
          <a:chOff x="0" y="0"/>
          <a:chExt cx="0" cy="0"/>
        </a:xfrm>
      </p:grpSpPr>
      <p:pic>
        <p:nvPicPr>
          <p:cNvPr id="5" name="Imagen 4" descr="Imagen que contiene hombre, edificio, viejo, frente&#10;&#10;El contenido generado por IA puede ser incorrecto.">
            <a:extLst>
              <a:ext uri="{FF2B5EF4-FFF2-40B4-BE49-F238E27FC236}">
                <a16:creationId xmlns:a16="http://schemas.microsoft.com/office/drawing/2014/main" id="{196C813C-5BB5-AD0E-E7E3-8DEEF9289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0901" y="0"/>
            <a:ext cx="5150197" cy="6858000"/>
          </a:xfrm>
          <a:prstGeom prst="rect">
            <a:avLst/>
          </a:prstGeom>
        </p:spPr>
      </p:pic>
    </p:spTree>
    <p:extLst>
      <p:ext uri="{BB962C8B-B14F-4D97-AF65-F5344CB8AC3E}">
        <p14:creationId xmlns:p14="http://schemas.microsoft.com/office/powerpoint/2010/main" val="37820600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DE8E0-A3DE-18F1-465D-574B9CCDB9E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AE97087-BF98-69DF-419B-CC07EA8F97D0}"/>
              </a:ext>
            </a:extLst>
          </p:cNvPr>
          <p:cNvSpPr>
            <a:spLocks noGrp="1"/>
          </p:cNvSpPr>
          <p:nvPr>
            <p:ph idx="1"/>
          </p:nvPr>
        </p:nvSpPr>
        <p:spPr>
          <a:xfrm>
            <a:off x="838200" y="452176"/>
            <a:ext cx="10325519" cy="5724787"/>
          </a:xfrm>
        </p:spPr>
        <p:txBody>
          <a:bodyPr>
            <a:normAutofit fontScale="92500" lnSpcReduction="20000"/>
          </a:bodyPr>
          <a:lstStyle/>
          <a:p>
            <a:pPr>
              <a:lnSpc>
                <a:spcPct val="150000"/>
              </a:lnSpc>
            </a:pPr>
            <a:r>
              <a:rPr lang="es-ES" sz="4000" noProof="0" dirty="0">
                <a:latin typeface="Garamond" panose="02020404030301010803" pitchFamily="18" charset="0"/>
              </a:rPr>
              <a:t>Mundo atravesado por una </a:t>
            </a:r>
            <a:r>
              <a:rPr lang="es-ES" sz="4000" b="1" noProof="0" dirty="0">
                <a:latin typeface="Garamond" panose="02020404030301010803" pitchFamily="18" charset="0"/>
              </a:rPr>
              <a:t>Razón</a:t>
            </a:r>
            <a:r>
              <a:rPr lang="es-ES" sz="4000" noProof="0" dirty="0">
                <a:latin typeface="Garamond" panose="02020404030301010803" pitchFamily="18" charset="0"/>
              </a:rPr>
              <a:t> (</a:t>
            </a:r>
            <a:r>
              <a:rPr lang="es-ES" sz="4000" i="1" noProof="0" dirty="0">
                <a:latin typeface="Garamond" panose="02020404030301010803" pitchFamily="18" charset="0"/>
              </a:rPr>
              <a:t>Logos</a:t>
            </a:r>
            <a:r>
              <a:rPr lang="es-ES" sz="4000" noProof="0" dirty="0">
                <a:latin typeface="Garamond" panose="02020404030301010803" pitchFamily="18" charset="0"/>
              </a:rPr>
              <a:t>) que lo ordena.</a:t>
            </a:r>
          </a:p>
          <a:p>
            <a:pPr>
              <a:lnSpc>
                <a:spcPct val="150000"/>
              </a:lnSpc>
            </a:pPr>
            <a:r>
              <a:rPr lang="es-ES" sz="4000" noProof="0" dirty="0">
                <a:latin typeface="Garamond" panose="02020404030301010803" pitchFamily="18" charset="0"/>
              </a:rPr>
              <a:t>Todos los objetos son </a:t>
            </a:r>
            <a:r>
              <a:rPr lang="es-ES" sz="4000" b="1" noProof="0" dirty="0">
                <a:latin typeface="Garamond" panose="02020404030301010803" pitchFamily="18" charset="0"/>
              </a:rPr>
              <a:t>cuerpos</a:t>
            </a:r>
            <a:r>
              <a:rPr lang="es-ES" sz="4000" noProof="0" dirty="0">
                <a:latin typeface="Garamond" panose="02020404030301010803" pitchFamily="18" charset="0"/>
              </a:rPr>
              <a:t>. </a:t>
            </a:r>
          </a:p>
          <a:p>
            <a:pPr>
              <a:lnSpc>
                <a:spcPct val="150000"/>
              </a:lnSpc>
            </a:pPr>
            <a:r>
              <a:rPr lang="es-ES" sz="4000" noProof="0" dirty="0">
                <a:latin typeface="Garamond" panose="02020404030301010803" pitchFamily="18" charset="0"/>
              </a:rPr>
              <a:t>Ideal epistémico (</a:t>
            </a:r>
            <a:r>
              <a:rPr lang="es-ES" sz="4000" b="1" i="1" noProof="0" dirty="0">
                <a:latin typeface="Garamond" panose="02020404030301010803" pitchFamily="18" charset="0"/>
              </a:rPr>
              <a:t>episteme</a:t>
            </a:r>
            <a:r>
              <a:rPr lang="es-ES" sz="4000" noProof="0" dirty="0">
                <a:latin typeface="Garamond" panose="02020404030301010803" pitchFamily="18" charset="0"/>
              </a:rPr>
              <a:t>) alcanzable para el ser humano.</a:t>
            </a:r>
          </a:p>
          <a:p>
            <a:pPr>
              <a:lnSpc>
                <a:spcPct val="150000"/>
              </a:lnSpc>
            </a:pPr>
            <a:r>
              <a:rPr lang="es-ES" sz="4000" noProof="0" dirty="0">
                <a:latin typeface="Garamond" panose="02020404030301010803" pitchFamily="18" charset="0"/>
              </a:rPr>
              <a:t>Lo alcanza el </a:t>
            </a:r>
            <a:r>
              <a:rPr lang="es-ES" sz="4000" b="1" noProof="0" dirty="0">
                <a:latin typeface="Garamond" panose="02020404030301010803" pitchFamily="18" charset="0"/>
              </a:rPr>
              <a:t>sabio</a:t>
            </a:r>
            <a:r>
              <a:rPr lang="es-ES" sz="4000" noProof="0" dirty="0">
                <a:latin typeface="Garamond" panose="02020404030301010803" pitchFamily="18" charset="0"/>
              </a:rPr>
              <a:t> (</a:t>
            </a:r>
            <a:r>
              <a:rPr lang="es-ES" sz="4000" i="1" noProof="0" dirty="0" err="1">
                <a:latin typeface="Garamond" panose="02020404030301010803" pitchFamily="18" charset="0"/>
              </a:rPr>
              <a:t>sophós</a:t>
            </a:r>
            <a:r>
              <a:rPr lang="es-ES" sz="4000" noProof="0" dirty="0">
                <a:latin typeface="Garamond" panose="02020404030301010803" pitchFamily="18" charset="0"/>
              </a:rPr>
              <a:t>).</a:t>
            </a:r>
          </a:p>
          <a:p>
            <a:pPr>
              <a:lnSpc>
                <a:spcPct val="150000"/>
              </a:lnSpc>
            </a:pPr>
            <a:r>
              <a:rPr lang="es-ES" sz="4000" noProof="0" dirty="0">
                <a:latin typeface="Garamond" panose="02020404030301010803" pitchFamily="18" charset="0"/>
              </a:rPr>
              <a:t>El sabio actúa en harmonía con el </a:t>
            </a:r>
            <a:r>
              <a:rPr lang="es-ES" sz="4000" i="1" noProof="0" dirty="0">
                <a:latin typeface="Garamond" panose="02020404030301010803" pitchFamily="18" charset="0"/>
              </a:rPr>
              <a:t>Logos</a:t>
            </a:r>
            <a:r>
              <a:rPr lang="es-ES" sz="4000" noProof="0" dirty="0">
                <a:latin typeface="Garamond" panose="02020404030301010803" pitchFamily="18" charset="0"/>
              </a:rPr>
              <a:t>.</a:t>
            </a:r>
          </a:p>
        </p:txBody>
      </p:sp>
    </p:spTree>
    <p:extLst>
      <p:ext uri="{BB962C8B-B14F-4D97-AF65-F5344CB8AC3E}">
        <p14:creationId xmlns:p14="http://schemas.microsoft.com/office/powerpoint/2010/main" val="3089987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D06B4-EF73-79E5-275C-CE193C4A5E3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D57E249-AE30-E684-FDBC-B1F1461721AD}"/>
              </a:ext>
            </a:extLst>
          </p:cNvPr>
          <p:cNvSpPr>
            <a:spLocks noGrp="1"/>
          </p:cNvSpPr>
          <p:nvPr>
            <p:ph idx="1"/>
          </p:nvPr>
        </p:nvSpPr>
        <p:spPr>
          <a:xfrm>
            <a:off x="838200" y="452176"/>
            <a:ext cx="10325519" cy="5724787"/>
          </a:xfrm>
        </p:spPr>
        <p:txBody>
          <a:bodyPr>
            <a:normAutofit/>
          </a:bodyPr>
          <a:lstStyle/>
          <a:p>
            <a:pPr>
              <a:lnSpc>
                <a:spcPct val="150000"/>
              </a:lnSpc>
            </a:pPr>
            <a:r>
              <a:rPr lang="es-ES" sz="4000" noProof="0" dirty="0">
                <a:latin typeface="Garamond" panose="02020404030301010803" pitchFamily="18" charset="0"/>
              </a:rPr>
              <a:t>Ignorante</a:t>
            </a:r>
            <a:r>
              <a:rPr lang="es-ES" sz="4000" noProof="0" dirty="0">
                <a:latin typeface="Garamond" panose="02020404030301010803" pitchFamily="18" charset="0"/>
                <a:sym typeface="Wingdings" panose="05000000000000000000" pitchFamily="2" charset="2"/>
              </a:rPr>
              <a:t> sabio es posible.</a:t>
            </a:r>
            <a:endParaRPr lang="es-ES" sz="4000" noProof="0" dirty="0">
              <a:latin typeface="Garamond" panose="02020404030301010803" pitchFamily="18" charset="0"/>
            </a:endParaRPr>
          </a:p>
          <a:p>
            <a:pPr>
              <a:lnSpc>
                <a:spcPct val="150000"/>
              </a:lnSpc>
            </a:pPr>
            <a:r>
              <a:rPr lang="es-ES" sz="4000" noProof="0" dirty="0">
                <a:latin typeface="Garamond" panose="02020404030301010803" pitchFamily="18" charset="0"/>
              </a:rPr>
              <a:t>Elemento facilitador: aprehensión.</a:t>
            </a:r>
          </a:p>
          <a:p>
            <a:pPr>
              <a:lnSpc>
                <a:spcPct val="150000"/>
              </a:lnSpc>
            </a:pPr>
            <a:r>
              <a:rPr lang="es-ES" sz="4000" dirty="0">
                <a:latin typeface="Garamond" panose="02020404030301010803" pitchFamily="18" charset="0"/>
              </a:rPr>
              <a:t>En sabio: </a:t>
            </a:r>
            <a:r>
              <a:rPr lang="es-ES" sz="4000" i="1" dirty="0">
                <a:latin typeface="Garamond" panose="02020404030301010803" pitchFamily="18" charset="0"/>
              </a:rPr>
              <a:t>episteme</a:t>
            </a:r>
            <a:r>
              <a:rPr lang="es-ES" sz="4000" dirty="0">
                <a:latin typeface="Garamond" panose="02020404030301010803" pitchFamily="18" charset="0"/>
              </a:rPr>
              <a:t>; en ignorante: </a:t>
            </a:r>
            <a:r>
              <a:rPr lang="es-ES" sz="4000" i="1" dirty="0">
                <a:latin typeface="Garamond" panose="02020404030301010803" pitchFamily="18" charset="0"/>
              </a:rPr>
              <a:t>doxa</a:t>
            </a:r>
            <a:r>
              <a:rPr lang="es-ES" sz="4000" dirty="0">
                <a:latin typeface="Garamond" panose="02020404030301010803" pitchFamily="18" charset="0"/>
              </a:rPr>
              <a:t>.</a:t>
            </a:r>
            <a:endParaRPr lang="es-ES" sz="4000" noProof="0" dirty="0">
              <a:latin typeface="Garamond" panose="02020404030301010803" pitchFamily="18" charset="0"/>
            </a:endParaRPr>
          </a:p>
          <a:p>
            <a:pPr>
              <a:lnSpc>
                <a:spcPct val="150000"/>
              </a:lnSpc>
            </a:pPr>
            <a:r>
              <a:rPr lang="es-ES" sz="4000" noProof="0" dirty="0">
                <a:latin typeface="Garamond" panose="02020404030301010803" pitchFamily="18" charset="0"/>
              </a:rPr>
              <a:t>Diferencia: la dialéctica.</a:t>
            </a:r>
          </a:p>
          <a:p>
            <a:pPr>
              <a:lnSpc>
                <a:spcPct val="150000"/>
              </a:lnSpc>
            </a:pPr>
            <a:endParaRPr lang="es-ES" sz="4000" b="1" noProof="0" dirty="0">
              <a:latin typeface="Garamond" panose="02020404030301010803" pitchFamily="18" charset="0"/>
            </a:endParaRPr>
          </a:p>
        </p:txBody>
      </p:sp>
    </p:spTree>
    <p:extLst>
      <p:ext uri="{BB962C8B-B14F-4D97-AF65-F5344CB8AC3E}">
        <p14:creationId xmlns:p14="http://schemas.microsoft.com/office/powerpoint/2010/main" val="3583267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7FD06-7B09-2154-9062-11C71B9F3B2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A627E4A-1711-D80E-D27D-28B15A697A1C}"/>
              </a:ext>
            </a:extLst>
          </p:cNvPr>
          <p:cNvSpPr>
            <a:spLocks noGrp="1"/>
          </p:cNvSpPr>
          <p:nvPr>
            <p:ph idx="1"/>
          </p:nvPr>
        </p:nvSpPr>
        <p:spPr>
          <a:xfrm>
            <a:off x="933240" y="1518976"/>
            <a:ext cx="10325519" cy="5724787"/>
          </a:xfrm>
        </p:spPr>
        <p:txBody>
          <a:bodyPr>
            <a:normAutofit/>
          </a:bodyPr>
          <a:lstStyle/>
          <a:p>
            <a:pPr>
              <a:lnSpc>
                <a:spcPct val="150000"/>
              </a:lnSpc>
            </a:pPr>
            <a:r>
              <a:rPr lang="es-ES" sz="4800" noProof="0" dirty="0">
                <a:latin typeface="Garamond" panose="02020404030301010803" pitchFamily="18" charset="0"/>
              </a:rPr>
              <a:t>Definición de </a:t>
            </a:r>
            <a:r>
              <a:rPr lang="es-ES" sz="4800" b="1" noProof="0" dirty="0">
                <a:latin typeface="Garamond" panose="02020404030301010803" pitchFamily="18" charset="0"/>
              </a:rPr>
              <a:t>aprehensión</a:t>
            </a:r>
            <a:r>
              <a:rPr lang="es-ES" sz="4800" noProof="0" dirty="0">
                <a:latin typeface="Garamond" panose="02020404030301010803" pitchFamily="18" charset="0"/>
              </a:rPr>
              <a:t>: asentimiento a la impresión aprehensiva.</a:t>
            </a:r>
          </a:p>
          <a:p>
            <a:pPr>
              <a:lnSpc>
                <a:spcPct val="150000"/>
              </a:lnSpc>
            </a:pPr>
            <a:endParaRPr lang="es-ES" sz="4000" b="1" noProof="0" dirty="0">
              <a:latin typeface="Garamond" panose="02020404030301010803" pitchFamily="18" charset="0"/>
            </a:endParaRPr>
          </a:p>
        </p:txBody>
      </p:sp>
    </p:spTree>
    <p:extLst>
      <p:ext uri="{BB962C8B-B14F-4D97-AF65-F5344CB8AC3E}">
        <p14:creationId xmlns:p14="http://schemas.microsoft.com/office/powerpoint/2010/main" val="10060965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B1540-7D55-76A0-9F26-6C257DDDC33E}"/>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05DA0BC-CE2F-7CA4-8672-37EF05598BB5}"/>
              </a:ext>
            </a:extLst>
          </p:cNvPr>
          <p:cNvSpPr>
            <a:spLocks noGrp="1"/>
          </p:cNvSpPr>
          <p:nvPr>
            <p:ph idx="1"/>
          </p:nvPr>
        </p:nvSpPr>
        <p:spPr>
          <a:xfrm>
            <a:off x="838200" y="452176"/>
            <a:ext cx="10325519" cy="5724787"/>
          </a:xfrm>
        </p:spPr>
        <p:txBody>
          <a:bodyPr>
            <a:normAutofit lnSpcReduction="10000"/>
          </a:bodyPr>
          <a:lstStyle/>
          <a:p>
            <a:pPr>
              <a:lnSpc>
                <a:spcPct val="150000"/>
              </a:lnSpc>
            </a:pPr>
            <a:r>
              <a:rPr lang="es-ES" sz="4000" noProof="0" dirty="0">
                <a:latin typeface="Garamond" panose="02020404030301010803" pitchFamily="18" charset="0"/>
              </a:rPr>
              <a:t>Toda acción es </a:t>
            </a:r>
            <a:r>
              <a:rPr lang="es-ES" sz="4000" b="1" noProof="0" dirty="0">
                <a:latin typeface="Garamond" panose="02020404030301010803" pitchFamily="18" charset="0"/>
              </a:rPr>
              <a:t>proposicional</a:t>
            </a:r>
            <a:r>
              <a:rPr lang="es-ES" sz="4000" noProof="0" dirty="0">
                <a:latin typeface="Garamond" panose="02020404030301010803" pitchFamily="18" charset="0"/>
              </a:rPr>
              <a:t> y </a:t>
            </a:r>
            <a:r>
              <a:rPr lang="es-ES" sz="4000" b="1" noProof="0" dirty="0">
                <a:latin typeface="Garamond" panose="02020404030301010803" pitchFamily="18" charset="0"/>
              </a:rPr>
              <a:t>voluntaria</a:t>
            </a:r>
            <a:r>
              <a:rPr lang="es-ES" sz="4000" noProof="0" dirty="0">
                <a:latin typeface="Garamond" panose="02020404030301010803" pitchFamily="18" charset="0"/>
              </a:rPr>
              <a:t>.</a:t>
            </a:r>
          </a:p>
          <a:p>
            <a:pPr>
              <a:lnSpc>
                <a:spcPct val="150000"/>
              </a:lnSpc>
            </a:pPr>
            <a:r>
              <a:rPr lang="es-ES" sz="4000" noProof="0" dirty="0">
                <a:latin typeface="Garamond" panose="02020404030301010803" pitchFamily="18" charset="0"/>
              </a:rPr>
              <a:t>Los cuerpos se </a:t>
            </a:r>
            <a:r>
              <a:rPr lang="es-ES" sz="4000" b="1" noProof="0" dirty="0">
                <a:latin typeface="Garamond" panose="02020404030301010803" pitchFamily="18" charset="0"/>
              </a:rPr>
              <a:t>imprimen</a:t>
            </a:r>
            <a:r>
              <a:rPr lang="es-ES" sz="4000" noProof="0" dirty="0">
                <a:latin typeface="Garamond" panose="02020404030301010803" pitchFamily="18" charset="0"/>
              </a:rPr>
              <a:t> en el alma </a:t>
            </a:r>
            <a:r>
              <a:rPr lang="es-ES" sz="4000" b="1" noProof="0" dirty="0">
                <a:latin typeface="Garamond" panose="02020404030301010803" pitchFamily="18" charset="0"/>
              </a:rPr>
              <a:t>pasivamente</a:t>
            </a:r>
            <a:r>
              <a:rPr lang="es-ES" sz="4000" noProof="0" dirty="0">
                <a:latin typeface="Garamond" panose="02020404030301010803" pitchFamily="18" charset="0"/>
              </a:rPr>
              <a:t>.</a:t>
            </a:r>
          </a:p>
          <a:p>
            <a:pPr>
              <a:lnSpc>
                <a:spcPct val="150000"/>
              </a:lnSpc>
            </a:pPr>
            <a:r>
              <a:rPr lang="es-ES" sz="4000" noProof="0" dirty="0">
                <a:latin typeface="Garamond" panose="02020404030301010803" pitchFamily="18" charset="0"/>
              </a:rPr>
              <a:t>El alma </a:t>
            </a:r>
            <a:r>
              <a:rPr lang="es-ES" sz="4000" b="1" noProof="0" dirty="0">
                <a:latin typeface="Garamond" panose="02020404030301010803" pitchFamily="18" charset="0"/>
              </a:rPr>
              <a:t>activamente</a:t>
            </a:r>
            <a:r>
              <a:rPr lang="es-ES" sz="4000" noProof="0" dirty="0">
                <a:latin typeface="Garamond" panose="02020404030301010803" pitchFamily="18" charset="0"/>
              </a:rPr>
              <a:t> </a:t>
            </a:r>
            <a:r>
              <a:rPr lang="es-ES" sz="4000" b="1" noProof="0" dirty="0">
                <a:latin typeface="Garamond" panose="02020404030301010803" pitchFamily="18" charset="0"/>
              </a:rPr>
              <a:t>asiente</a:t>
            </a:r>
            <a:r>
              <a:rPr lang="es-ES" sz="4000" noProof="0" dirty="0">
                <a:latin typeface="Garamond" panose="02020404030301010803" pitchFamily="18" charset="0"/>
              </a:rPr>
              <a:t> a la impresión.</a:t>
            </a:r>
          </a:p>
          <a:p>
            <a:pPr>
              <a:lnSpc>
                <a:spcPct val="150000"/>
              </a:lnSpc>
            </a:pPr>
            <a:r>
              <a:rPr lang="es-ES" sz="4000" noProof="0" dirty="0">
                <a:latin typeface="Garamond" panose="02020404030301010803" pitchFamily="18" charset="0"/>
              </a:rPr>
              <a:t>Ejemplo: mesa se imprime en mi alma </a:t>
            </a:r>
            <a:r>
              <a:rPr lang="es-ES" sz="4000" noProof="0" dirty="0">
                <a:latin typeface="Garamond" panose="02020404030301010803" pitchFamily="18" charset="0"/>
                <a:sym typeface="Wingdings" panose="05000000000000000000" pitchFamily="2" charset="2"/>
              </a:rPr>
              <a:t> ‘esto es una mesa’  asiento (o no, o a su contrario). </a:t>
            </a:r>
            <a:endParaRPr lang="es-ES" sz="4000" noProof="0" dirty="0">
              <a:latin typeface="Garamond" panose="02020404030301010803" pitchFamily="18" charset="0"/>
            </a:endParaRPr>
          </a:p>
        </p:txBody>
      </p:sp>
    </p:spTree>
    <p:extLst>
      <p:ext uri="{BB962C8B-B14F-4D97-AF65-F5344CB8AC3E}">
        <p14:creationId xmlns:p14="http://schemas.microsoft.com/office/powerpoint/2010/main" val="297904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E8329-B287-6748-0663-D95B79B1882B}"/>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B908508-017C-E59D-5AF1-E37C88473FD0}"/>
              </a:ext>
            </a:extLst>
          </p:cNvPr>
          <p:cNvSpPr>
            <a:spLocks noGrp="1"/>
          </p:cNvSpPr>
          <p:nvPr>
            <p:ph idx="1"/>
          </p:nvPr>
        </p:nvSpPr>
        <p:spPr>
          <a:xfrm>
            <a:off x="838200" y="452176"/>
            <a:ext cx="10325519" cy="5724787"/>
          </a:xfrm>
        </p:spPr>
        <p:txBody>
          <a:bodyPr>
            <a:normAutofit/>
          </a:bodyPr>
          <a:lstStyle/>
          <a:p>
            <a:pPr marL="0" indent="0">
              <a:lnSpc>
                <a:spcPct val="150000"/>
              </a:lnSpc>
              <a:buNone/>
            </a:pPr>
            <a:r>
              <a:rPr lang="es-ES" sz="4000" noProof="0" dirty="0">
                <a:latin typeface="Garamond" panose="02020404030301010803" pitchFamily="18" charset="0"/>
              </a:rPr>
              <a:t>El </a:t>
            </a:r>
            <a:r>
              <a:rPr lang="es-ES" sz="4000" b="1" noProof="0" dirty="0">
                <a:latin typeface="Garamond" panose="02020404030301010803" pitchFamily="18" charset="0"/>
              </a:rPr>
              <a:t>asentimiento</a:t>
            </a:r>
            <a:r>
              <a:rPr lang="es-ES" sz="4000" noProof="0" dirty="0">
                <a:latin typeface="Garamond" panose="02020404030301010803" pitchFamily="18" charset="0"/>
              </a:rPr>
              <a:t> es:</a:t>
            </a:r>
          </a:p>
          <a:p>
            <a:pPr>
              <a:lnSpc>
                <a:spcPct val="150000"/>
              </a:lnSpc>
            </a:pPr>
            <a:r>
              <a:rPr lang="es-ES" sz="4000" noProof="0" dirty="0">
                <a:latin typeface="Garamond" panose="02020404030301010803" pitchFamily="18" charset="0"/>
              </a:rPr>
              <a:t>Componente </a:t>
            </a:r>
            <a:r>
              <a:rPr lang="es-ES" sz="4000" b="1" noProof="0" dirty="0">
                <a:latin typeface="Garamond" panose="02020404030301010803" pitchFamily="18" charset="0"/>
              </a:rPr>
              <a:t>básico único</a:t>
            </a:r>
            <a:r>
              <a:rPr lang="es-ES" sz="4000" noProof="0" dirty="0">
                <a:latin typeface="Garamond" panose="02020404030301010803" pitchFamily="18" charset="0"/>
              </a:rPr>
              <a:t> de la psicología estoica.</a:t>
            </a:r>
          </a:p>
          <a:p>
            <a:pPr>
              <a:lnSpc>
                <a:spcPct val="150000"/>
              </a:lnSpc>
            </a:pPr>
            <a:r>
              <a:rPr lang="es-ES" sz="4000" noProof="0" dirty="0">
                <a:latin typeface="Garamond" panose="02020404030301010803" pitchFamily="18" charset="0"/>
              </a:rPr>
              <a:t>Máximamente </a:t>
            </a:r>
            <a:r>
              <a:rPr lang="es-ES" sz="4000" b="1" noProof="0" dirty="0">
                <a:latin typeface="Garamond" panose="02020404030301010803" pitchFamily="18" charset="0"/>
              </a:rPr>
              <a:t>comprometedor</a:t>
            </a:r>
            <a:r>
              <a:rPr lang="es-ES" sz="4000" noProof="0" dirty="0">
                <a:latin typeface="Garamond" panose="02020404030301010803" pitchFamily="18" charset="0"/>
              </a:rPr>
              <a:t>. Asentir a X </a:t>
            </a:r>
            <a:r>
              <a:rPr lang="es-ES" sz="4000" noProof="0" dirty="0">
                <a:latin typeface="Garamond" panose="02020404030301010803" pitchFamily="18" charset="0"/>
                <a:sym typeface="Wingdings" panose="05000000000000000000" pitchFamily="2" charset="2"/>
              </a:rPr>
              <a:t> X es verdadero.</a:t>
            </a:r>
            <a:endParaRPr lang="es-ES" sz="4000" noProof="0" dirty="0">
              <a:latin typeface="Garamond" panose="02020404030301010803" pitchFamily="18" charset="0"/>
            </a:endParaRPr>
          </a:p>
        </p:txBody>
      </p:sp>
    </p:spTree>
    <p:extLst>
      <p:ext uri="{BB962C8B-B14F-4D97-AF65-F5344CB8AC3E}">
        <p14:creationId xmlns:p14="http://schemas.microsoft.com/office/powerpoint/2010/main" val="3733300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FEF50-C28C-F6E6-65F0-374F41331B3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BC9CD74-114C-8FC8-0FFE-23B1D4C9219C}"/>
              </a:ext>
            </a:extLst>
          </p:cNvPr>
          <p:cNvSpPr>
            <a:spLocks noGrp="1"/>
          </p:cNvSpPr>
          <p:nvPr>
            <p:ph idx="1"/>
          </p:nvPr>
        </p:nvSpPr>
        <p:spPr>
          <a:xfrm>
            <a:off x="838200" y="452176"/>
            <a:ext cx="11019817" cy="5724787"/>
          </a:xfrm>
        </p:spPr>
        <p:txBody>
          <a:bodyPr>
            <a:normAutofit fontScale="92500" lnSpcReduction="10000"/>
          </a:bodyPr>
          <a:lstStyle/>
          <a:p>
            <a:pPr marL="0" indent="0">
              <a:lnSpc>
                <a:spcPct val="150000"/>
              </a:lnSpc>
              <a:buNone/>
            </a:pPr>
            <a:r>
              <a:rPr lang="es-ES" sz="5400" noProof="0" dirty="0">
                <a:latin typeface="Garamond" panose="02020404030301010803" pitchFamily="18" charset="0"/>
              </a:rPr>
              <a:t>K1	Proviene de un objeto existente,</a:t>
            </a:r>
          </a:p>
          <a:p>
            <a:pPr marL="0" indent="0">
              <a:lnSpc>
                <a:spcPct val="150000"/>
              </a:lnSpc>
              <a:buNone/>
            </a:pPr>
            <a:r>
              <a:rPr lang="es-ES" sz="5400" noProof="0" dirty="0">
                <a:latin typeface="Garamond" panose="02020404030301010803" pitchFamily="18" charset="0"/>
              </a:rPr>
              <a:t>K2	está estampada e impresa de acuerdo con ese objeto, y</a:t>
            </a:r>
          </a:p>
          <a:p>
            <a:pPr marL="0" indent="0">
              <a:lnSpc>
                <a:spcPct val="150000"/>
              </a:lnSpc>
              <a:buNone/>
            </a:pPr>
            <a:r>
              <a:rPr lang="es-ES" sz="5400" noProof="0" dirty="0">
                <a:latin typeface="Garamond" panose="02020404030301010803" pitchFamily="18" charset="0"/>
              </a:rPr>
              <a:t>K3	es tal que no pudiera haber provenido de algo que no existiese. </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438941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A4079-B2F4-5BA9-75D4-63AB6C209630}"/>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FFAFC6E-064E-2D28-A395-D10EB184299D}"/>
              </a:ext>
            </a:extLst>
          </p:cNvPr>
          <p:cNvSpPr>
            <a:spLocks noGrp="1"/>
          </p:cNvSpPr>
          <p:nvPr>
            <p:ph idx="1"/>
          </p:nvPr>
        </p:nvSpPr>
        <p:spPr>
          <a:xfrm>
            <a:off x="838200" y="452176"/>
            <a:ext cx="11019817" cy="5724787"/>
          </a:xfrm>
        </p:spPr>
        <p:txBody>
          <a:bodyPr>
            <a:normAutofit fontScale="77500" lnSpcReduction="20000"/>
          </a:bodyPr>
          <a:lstStyle/>
          <a:p>
            <a:pPr>
              <a:lnSpc>
                <a:spcPct val="150000"/>
              </a:lnSpc>
            </a:pPr>
            <a:r>
              <a:rPr lang="es-ES" sz="5400" noProof="0" dirty="0">
                <a:latin typeface="Garamond" panose="02020404030301010803" pitchFamily="18" charset="0"/>
              </a:rPr>
              <a:t>‘</a:t>
            </a:r>
            <a:r>
              <a:rPr lang="es-ES" sz="5400" b="1" noProof="0" dirty="0">
                <a:latin typeface="Garamond" panose="02020404030301010803" pitchFamily="18" charset="0"/>
              </a:rPr>
              <a:t>Asentimiento</a:t>
            </a:r>
            <a:r>
              <a:rPr lang="es-ES" sz="5400" noProof="0" dirty="0">
                <a:latin typeface="Garamond" panose="02020404030301010803" pitchFamily="18" charset="0"/>
              </a:rPr>
              <a:t>’, </a:t>
            </a:r>
            <a:r>
              <a:rPr lang="es-ES" sz="5400" i="1" noProof="0" dirty="0" err="1">
                <a:latin typeface="Garamond" panose="02020404030301010803" pitchFamily="18" charset="0"/>
              </a:rPr>
              <a:t>sunkatáthesis</a:t>
            </a:r>
            <a:r>
              <a:rPr lang="es-ES" sz="5400" i="1" noProof="0" dirty="0">
                <a:latin typeface="Garamond" panose="02020404030301010803" pitchFamily="18" charset="0"/>
              </a:rPr>
              <a:t>, ‘</a:t>
            </a:r>
            <a:r>
              <a:rPr lang="es-ES" sz="5400" b="1" noProof="0" dirty="0">
                <a:latin typeface="Garamond" panose="02020404030301010803" pitchFamily="18" charset="0"/>
              </a:rPr>
              <a:t>consentimiento</a:t>
            </a:r>
            <a:r>
              <a:rPr lang="es-ES" sz="5400" noProof="0" dirty="0">
                <a:latin typeface="Garamond" panose="02020404030301010803" pitchFamily="18" charset="0"/>
              </a:rPr>
              <a:t>’, ‘aprobación.’</a:t>
            </a:r>
            <a:endParaRPr lang="es-ES" sz="5400" i="1" noProof="0" dirty="0">
              <a:latin typeface="Garamond" panose="02020404030301010803" pitchFamily="18" charset="0"/>
            </a:endParaRPr>
          </a:p>
          <a:p>
            <a:pPr>
              <a:lnSpc>
                <a:spcPct val="150000"/>
              </a:lnSpc>
            </a:pPr>
            <a:r>
              <a:rPr lang="es-ES" sz="5400" noProof="0" dirty="0">
                <a:latin typeface="Garamond" panose="02020404030301010803" pitchFamily="18" charset="0"/>
              </a:rPr>
              <a:t>‘</a:t>
            </a:r>
            <a:r>
              <a:rPr lang="es-ES" sz="5400" b="1" noProof="0" dirty="0">
                <a:latin typeface="Garamond" panose="02020404030301010803" pitchFamily="18" charset="0"/>
              </a:rPr>
              <a:t>Aprehensión</a:t>
            </a:r>
            <a:r>
              <a:rPr lang="es-ES" sz="5400" noProof="0" dirty="0">
                <a:latin typeface="Garamond" panose="02020404030301010803" pitchFamily="18" charset="0"/>
              </a:rPr>
              <a:t>’, </a:t>
            </a:r>
            <a:r>
              <a:rPr lang="es-ES" sz="5400" i="1" noProof="0" dirty="0" err="1">
                <a:latin typeface="Garamond" panose="02020404030301010803" pitchFamily="18" charset="0"/>
              </a:rPr>
              <a:t>katalepsis</a:t>
            </a:r>
            <a:r>
              <a:rPr lang="es-ES" sz="5400" noProof="0" dirty="0">
                <a:latin typeface="Garamond" panose="02020404030301010803" pitchFamily="18" charset="0"/>
              </a:rPr>
              <a:t>, del verbo </a:t>
            </a:r>
            <a:r>
              <a:rPr lang="es-ES" sz="5400" i="1" noProof="0" dirty="0" err="1">
                <a:latin typeface="Garamond" panose="02020404030301010803" pitchFamily="18" charset="0"/>
              </a:rPr>
              <a:t>katalambano</a:t>
            </a:r>
            <a:r>
              <a:rPr lang="es-ES" sz="5400" i="1" noProof="0" dirty="0">
                <a:latin typeface="Garamond" panose="02020404030301010803" pitchFamily="18" charset="0"/>
              </a:rPr>
              <a:t>, ‘</a:t>
            </a:r>
            <a:r>
              <a:rPr lang="es-ES" sz="5400" b="1" noProof="0" dirty="0">
                <a:latin typeface="Garamond" panose="02020404030301010803" pitchFamily="18" charset="0"/>
              </a:rPr>
              <a:t>agarrar con firmeza</a:t>
            </a:r>
            <a:r>
              <a:rPr lang="es-ES" sz="5400" noProof="0" dirty="0">
                <a:latin typeface="Garamond" panose="02020404030301010803" pitchFamily="18" charset="0"/>
              </a:rPr>
              <a:t>.’ </a:t>
            </a:r>
          </a:p>
          <a:p>
            <a:pPr>
              <a:lnSpc>
                <a:spcPct val="150000"/>
              </a:lnSpc>
            </a:pPr>
            <a:r>
              <a:rPr lang="es-ES" sz="5400" b="1" noProof="0" dirty="0">
                <a:latin typeface="Garamond" panose="02020404030301010803" pitchFamily="18" charset="0"/>
              </a:rPr>
              <a:t>No</a:t>
            </a:r>
            <a:r>
              <a:rPr lang="es-ES" sz="5400" noProof="0" dirty="0">
                <a:latin typeface="Garamond" panose="02020404030301010803" pitchFamily="18" charset="0"/>
              </a:rPr>
              <a:t> tenían uso epistémico anterior al estoicismo.</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29500353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21D8C5A9-8D9D-CEDD-23B9-AB4A7E0A349E}"/>
              </a:ext>
            </a:extLst>
          </p:cNvPr>
          <p:cNvSpPr txBox="1"/>
          <p:nvPr/>
        </p:nvSpPr>
        <p:spPr>
          <a:xfrm>
            <a:off x="896566" y="410225"/>
            <a:ext cx="10398868" cy="5437386"/>
          </a:xfrm>
          <a:prstGeom prst="rect">
            <a:avLst/>
          </a:prstGeom>
          <a:noFill/>
        </p:spPr>
        <p:txBody>
          <a:bodyPr wrap="square">
            <a:spAutoFit/>
          </a:bodyPr>
          <a:lstStyle/>
          <a:p>
            <a:pPr algn="just">
              <a:lnSpc>
                <a:spcPct val="150000"/>
              </a:lnSpc>
            </a:pPr>
            <a:r>
              <a:rPr lang="es-ES" sz="2600" noProof="0" dirty="0">
                <a:latin typeface="Garamond" panose="02020404030301010803" pitchFamily="18" charset="0"/>
              </a:rPr>
              <a:t>“Zenón solía demostrar esto con gestos. Cuando extendía la mano frente a él, con los dedos rectos, decía: «Una impresión es así». Luego, al contraer un poco los dedos: «El asentimiento es así». Después, cuando cerraba la mano formando un puño, decía que eso era una «aprehensión» o «captación». (Esta imagen sugería también el nombre que le dio, </a:t>
            </a:r>
            <a:r>
              <a:rPr lang="es-ES" sz="2600" i="1" noProof="0" dirty="0" err="1">
                <a:latin typeface="Garamond" panose="02020404030301010803" pitchFamily="18" charset="0"/>
              </a:rPr>
              <a:t>katalepsis</a:t>
            </a:r>
            <a:r>
              <a:rPr lang="es-ES" sz="2600" noProof="0" dirty="0">
                <a:latin typeface="Garamond" panose="02020404030301010803" pitchFamily="18" charset="0"/>
              </a:rPr>
              <a:t> [</a:t>
            </a:r>
            <a:r>
              <a:rPr lang="es-ES" sz="2600" noProof="0" dirty="0" err="1">
                <a:latin typeface="Garamond" panose="02020404030301010803" pitchFamily="18" charset="0"/>
              </a:rPr>
              <a:t>lit.</a:t>
            </a:r>
            <a:r>
              <a:rPr lang="es-ES" sz="2600" noProof="0" dirty="0">
                <a:latin typeface="Garamond" panose="02020404030301010803" pitchFamily="18" charset="0"/>
              </a:rPr>
              <a:t> «agarre firme»], que no se había usado antes). Finalmente, cuando colocaba la mano izquierda encima, apretando el puño con fuerza, decía que el conocimiento científico era así: un estado del que solo disfrutan los sabios —aunque, en cuanto a quién es o ha sido sabio, ni siquiera ellos se apresuran a decirlo.” (</a:t>
            </a:r>
            <a:r>
              <a:rPr lang="es-ES" sz="2600" i="1" noProof="0" dirty="0">
                <a:latin typeface="Garamond" panose="02020404030301010803" pitchFamily="18" charset="0"/>
              </a:rPr>
              <a:t>Acad</a:t>
            </a:r>
            <a:r>
              <a:rPr lang="es-ES" sz="2600" noProof="0" dirty="0">
                <a:latin typeface="Garamond" panose="02020404030301010803" pitchFamily="18" charset="0"/>
              </a:rPr>
              <a:t>. II, 145).</a:t>
            </a:r>
          </a:p>
        </p:txBody>
      </p:sp>
    </p:spTree>
    <p:extLst>
      <p:ext uri="{BB962C8B-B14F-4D97-AF65-F5344CB8AC3E}">
        <p14:creationId xmlns:p14="http://schemas.microsoft.com/office/powerpoint/2010/main" val="58391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AD1A2-16F8-7108-31B0-F9102C97912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B88B16B-F040-2981-EE5C-9AE27B99684A}"/>
              </a:ext>
            </a:extLst>
          </p:cNvPr>
          <p:cNvSpPr>
            <a:spLocks noGrp="1"/>
          </p:cNvSpPr>
          <p:nvPr>
            <p:ph idx="1"/>
          </p:nvPr>
        </p:nvSpPr>
        <p:spPr>
          <a:xfrm>
            <a:off x="586091" y="462336"/>
            <a:ext cx="11019817" cy="5724787"/>
          </a:xfrm>
        </p:spPr>
        <p:txBody>
          <a:bodyPr>
            <a:normAutofit fontScale="85000" lnSpcReduction="10000"/>
          </a:bodyPr>
          <a:lstStyle/>
          <a:p>
            <a:pPr marL="0" indent="0" algn="just">
              <a:lnSpc>
                <a:spcPct val="150000"/>
              </a:lnSpc>
              <a:buNone/>
            </a:pPr>
            <a:r>
              <a:rPr lang="es-ES" sz="3600" noProof="0" dirty="0">
                <a:latin typeface="Garamond" panose="02020404030301010803" pitchFamily="18" charset="0"/>
              </a:rPr>
              <a:t>“En cuanto al sabio, sin embargo, Arcesilao coincide con Zenón en que su mayor fortaleza consiste precisamente en asegurarse de no ser engañado y en procurar no dejarse llevar al error.” (</a:t>
            </a:r>
            <a:r>
              <a:rPr lang="es-ES" sz="3600" i="1" noProof="0" dirty="0">
                <a:latin typeface="Garamond" panose="02020404030301010803" pitchFamily="18" charset="0"/>
              </a:rPr>
              <a:t>Acad</a:t>
            </a:r>
            <a:r>
              <a:rPr lang="es-ES" sz="3600" noProof="0" dirty="0">
                <a:latin typeface="Garamond" panose="02020404030301010803" pitchFamily="18" charset="0"/>
              </a:rPr>
              <a:t>. II, 66).</a:t>
            </a:r>
          </a:p>
          <a:p>
            <a:pPr marL="0" indent="0" algn="ctr">
              <a:lnSpc>
                <a:spcPct val="150000"/>
              </a:lnSpc>
              <a:buNone/>
            </a:pPr>
            <a:r>
              <a:rPr lang="es-ES" sz="3600" i="1" noProof="0" dirty="0">
                <a:latin typeface="Garamond" panose="02020404030301010803" pitchFamily="18" charset="0"/>
              </a:rPr>
              <a:t>vs.</a:t>
            </a:r>
          </a:p>
          <a:p>
            <a:pPr marL="0" indent="0" algn="just">
              <a:lnSpc>
                <a:spcPct val="150000"/>
              </a:lnSpc>
              <a:buNone/>
            </a:pPr>
            <a:r>
              <a:rPr lang="es-ES" sz="3600" noProof="0" dirty="0">
                <a:latin typeface="Garamond" panose="02020404030301010803" pitchFamily="18" charset="0"/>
              </a:rPr>
              <a:t>“Llamar sabio a cualquier hombre, oh, Fedro, me parece algo excesivo y propio solo de un dios; en cambio, llamarlo amigo de la sabiduría [</a:t>
            </a:r>
            <a:r>
              <a:rPr lang="es-ES" sz="3600" noProof="0" dirty="0" err="1">
                <a:latin typeface="Garamond" panose="02020404030301010803" pitchFamily="18" charset="0"/>
              </a:rPr>
              <a:t>φιλόσοφον</a:t>
            </a:r>
            <a:r>
              <a:rPr lang="es-ES" sz="3600" noProof="0" dirty="0">
                <a:latin typeface="Garamond" panose="02020404030301010803" pitchFamily="18" charset="0"/>
              </a:rPr>
              <a:t>] o algo semejante sería más apropiado para él y también más acorde con lo que le conviene.” (</a:t>
            </a:r>
            <a:r>
              <a:rPr lang="es-ES" sz="3600" i="1" noProof="0" dirty="0" err="1">
                <a:latin typeface="Garamond" panose="02020404030301010803" pitchFamily="18" charset="0"/>
              </a:rPr>
              <a:t>Phdr</a:t>
            </a:r>
            <a:r>
              <a:rPr lang="es-ES" sz="3600" noProof="0" dirty="0">
                <a:latin typeface="Garamond" panose="02020404030301010803" pitchFamily="18" charset="0"/>
              </a:rPr>
              <a:t>. 278d3-6).</a:t>
            </a:r>
          </a:p>
        </p:txBody>
      </p:sp>
    </p:spTree>
    <p:extLst>
      <p:ext uri="{BB962C8B-B14F-4D97-AF65-F5344CB8AC3E}">
        <p14:creationId xmlns:p14="http://schemas.microsoft.com/office/powerpoint/2010/main" val="654088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1EAC4-45C4-D0B6-C5D4-A956798DAF60}"/>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89F012-269E-092D-EE70-2E7A9510466C}"/>
              </a:ext>
            </a:extLst>
          </p:cNvPr>
          <p:cNvSpPr>
            <a:spLocks noGrp="1"/>
          </p:cNvSpPr>
          <p:nvPr>
            <p:ph idx="1"/>
          </p:nvPr>
        </p:nvSpPr>
        <p:spPr>
          <a:xfrm>
            <a:off x="838200" y="452176"/>
            <a:ext cx="11019817" cy="5724787"/>
          </a:xfrm>
        </p:spPr>
        <p:txBody>
          <a:bodyPr>
            <a:normAutofit/>
          </a:bodyPr>
          <a:lstStyle/>
          <a:p>
            <a:pPr marL="0" indent="0">
              <a:lnSpc>
                <a:spcPct val="150000"/>
              </a:lnSpc>
              <a:buNone/>
            </a:pPr>
            <a:r>
              <a:rPr lang="es-ES" sz="5400" noProof="0" dirty="0">
                <a:latin typeface="Garamond" panose="02020404030301010803" pitchFamily="18" charset="0"/>
              </a:rPr>
              <a:t>Argumento I:</a:t>
            </a:r>
          </a:p>
          <a:p>
            <a:pPr>
              <a:lnSpc>
                <a:spcPct val="150000"/>
              </a:lnSpc>
            </a:pPr>
            <a:r>
              <a:rPr lang="es-ES" sz="5400" noProof="0" dirty="0">
                <a:latin typeface="Garamond" panose="02020404030301010803" pitchFamily="18" charset="0"/>
              </a:rPr>
              <a:t>No explica la diferencia entre sabio e ignorante.</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63382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88FCE-61B9-3CB8-837D-D4279E7F1B2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252F4DA-E5BF-C3B9-6EDB-8302F3231DFD}"/>
              </a:ext>
            </a:extLst>
          </p:cNvPr>
          <p:cNvSpPr>
            <a:spLocks noGrp="1"/>
          </p:cNvSpPr>
          <p:nvPr>
            <p:ph idx="1"/>
          </p:nvPr>
        </p:nvSpPr>
        <p:spPr>
          <a:xfrm>
            <a:off x="838200" y="452176"/>
            <a:ext cx="11019817" cy="5724787"/>
          </a:xfrm>
        </p:spPr>
        <p:txBody>
          <a:bodyPr>
            <a:normAutofit/>
          </a:bodyPr>
          <a:lstStyle/>
          <a:p>
            <a:pPr marL="0" indent="0">
              <a:lnSpc>
                <a:spcPct val="150000"/>
              </a:lnSpc>
              <a:buNone/>
            </a:pPr>
            <a:r>
              <a:rPr lang="es-ES" sz="5400" noProof="0" dirty="0">
                <a:latin typeface="Garamond" panose="02020404030301010803" pitchFamily="18" charset="0"/>
              </a:rPr>
              <a:t>Argumento II: (aprehensión como asentimiento a la impresión aprehensiva)</a:t>
            </a:r>
          </a:p>
          <a:p>
            <a:pPr>
              <a:lnSpc>
                <a:spcPct val="150000"/>
              </a:lnSpc>
            </a:pPr>
            <a:r>
              <a:rPr lang="es-ES" sz="5400" noProof="0" dirty="0">
                <a:latin typeface="Garamond" panose="02020404030301010803" pitchFamily="18" charset="0"/>
              </a:rPr>
              <a:t>El asentimiento no se da a la impresión sino a una proposición.</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440944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BF8A-96B2-8628-E6AC-8121FF2186F6}"/>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E48B606-A367-7AF0-25A7-169CDA32B876}"/>
              </a:ext>
            </a:extLst>
          </p:cNvPr>
          <p:cNvSpPr>
            <a:spLocks noGrp="1"/>
          </p:cNvSpPr>
          <p:nvPr>
            <p:ph idx="1"/>
          </p:nvPr>
        </p:nvSpPr>
        <p:spPr>
          <a:xfrm>
            <a:off x="838200" y="452176"/>
            <a:ext cx="11019817" cy="5724787"/>
          </a:xfrm>
        </p:spPr>
        <p:txBody>
          <a:bodyPr>
            <a:normAutofit/>
          </a:bodyPr>
          <a:lstStyle/>
          <a:p>
            <a:pPr marL="0" indent="0">
              <a:lnSpc>
                <a:spcPct val="150000"/>
              </a:lnSpc>
              <a:buNone/>
            </a:pPr>
            <a:r>
              <a:rPr lang="es-ES" sz="5400" noProof="0" dirty="0">
                <a:latin typeface="Garamond" panose="02020404030301010803" pitchFamily="18" charset="0"/>
              </a:rPr>
              <a:t>Argumento III: (aprehensión como asentimiento a la impresión aprehensiva)</a:t>
            </a:r>
          </a:p>
          <a:p>
            <a:pPr>
              <a:lnSpc>
                <a:spcPct val="150000"/>
              </a:lnSpc>
            </a:pPr>
            <a:r>
              <a:rPr lang="es-ES" sz="5400" noProof="0" dirty="0">
                <a:latin typeface="Garamond" panose="02020404030301010803" pitchFamily="18" charset="0"/>
              </a:rPr>
              <a:t>Todas las cosas serían inaprehensibles.</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39747536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ACAA7E0-549D-B594-AD10-20325B9C7F30}"/>
              </a:ext>
            </a:extLst>
          </p:cNvPr>
          <p:cNvSpPr txBox="1"/>
          <p:nvPr/>
        </p:nvSpPr>
        <p:spPr>
          <a:xfrm>
            <a:off x="-27562" y="1997839"/>
            <a:ext cx="12247124" cy="2862322"/>
          </a:xfrm>
          <a:prstGeom prst="rect">
            <a:avLst/>
          </a:prstGeom>
          <a:noFill/>
        </p:spPr>
        <p:txBody>
          <a:bodyPr wrap="square" rtlCol="0">
            <a:spAutoFit/>
          </a:bodyPr>
          <a:lstStyle/>
          <a:p>
            <a:pPr algn="ctr"/>
            <a:r>
              <a:rPr lang="es-ES" sz="6000" noProof="0" dirty="0">
                <a:latin typeface="Garamond" panose="02020404030301010803" pitchFamily="18" charset="0"/>
              </a:rPr>
              <a:t>¿Todas las cosas son inaprehensibles=nada puede ser conocido?</a:t>
            </a:r>
          </a:p>
        </p:txBody>
      </p:sp>
    </p:spTree>
    <p:extLst>
      <p:ext uri="{BB962C8B-B14F-4D97-AF65-F5344CB8AC3E}">
        <p14:creationId xmlns:p14="http://schemas.microsoft.com/office/powerpoint/2010/main" val="38664282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06763-20D1-DFD6-F653-981663583218}"/>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1B8D1D6-7D36-E1A9-31C2-07329C30DD04}"/>
              </a:ext>
            </a:extLst>
          </p:cNvPr>
          <p:cNvSpPr>
            <a:spLocks noGrp="1"/>
          </p:cNvSpPr>
          <p:nvPr>
            <p:ph idx="1"/>
          </p:nvPr>
        </p:nvSpPr>
        <p:spPr>
          <a:xfrm>
            <a:off x="838200" y="452176"/>
            <a:ext cx="11019817" cy="5724787"/>
          </a:xfrm>
        </p:spPr>
        <p:txBody>
          <a:bodyPr>
            <a:normAutofit fontScale="92500" lnSpcReduction="10000"/>
          </a:bodyPr>
          <a:lstStyle/>
          <a:p>
            <a:pPr marL="0" indent="0">
              <a:lnSpc>
                <a:spcPct val="150000"/>
              </a:lnSpc>
              <a:buNone/>
            </a:pPr>
            <a:r>
              <a:rPr lang="es-ES" sz="5400" noProof="0" dirty="0">
                <a:latin typeface="Garamond" panose="02020404030301010803" pitchFamily="18" charset="0"/>
              </a:rPr>
              <a:t>K1	Proviene de un objeto existente,</a:t>
            </a:r>
          </a:p>
          <a:p>
            <a:pPr marL="0" indent="0">
              <a:lnSpc>
                <a:spcPct val="150000"/>
              </a:lnSpc>
              <a:buNone/>
            </a:pPr>
            <a:r>
              <a:rPr lang="es-ES" sz="5400" noProof="0" dirty="0">
                <a:latin typeface="Garamond" panose="02020404030301010803" pitchFamily="18" charset="0"/>
              </a:rPr>
              <a:t>K2	está estampada e impresa de acuerdo con ese objeto, y</a:t>
            </a:r>
          </a:p>
          <a:p>
            <a:pPr marL="0" indent="0">
              <a:lnSpc>
                <a:spcPct val="150000"/>
              </a:lnSpc>
              <a:buNone/>
            </a:pPr>
            <a:r>
              <a:rPr lang="es-ES" sz="5400" b="1" noProof="0" dirty="0">
                <a:latin typeface="Garamond" panose="02020404030301010803" pitchFamily="18" charset="0"/>
              </a:rPr>
              <a:t>K3	es tal que no pudiera haber provenido de algo que no existiese. </a:t>
            </a:r>
          </a:p>
          <a:p>
            <a:endParaRPr lang="es-ES" sz="3600" noProof="0" dirty="0">
              <a:latin typeface="Garamond" panose="02020404030301010803" pitchFamily="18" charset="0"/>
            </a:endParaRPr>
          </a:p>
        </p:txBody>
      </p:sp>
    </p:spTree>
    <p:extLst>
      <p:ext uri="{BB962C8B-B14F-4D97-AF65-F5344CB8AC3E}">
        <p14:creationId xmlns:p14="http://schemas.microsoft.com/office/powerpoint/2010/main" val="3184066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68541-C95A-89A1-8EB4-854DCED61DBF}"/>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574417D-DE39-7A9B-5BE5-4922D9FC24E7}"/>
              </a:ext>
            </a:extLst>
          </p:cNvPr>
          <p:cNvSpPr>
            <a:spLocks noGrp="1"/>
          </p:cNvSpPr>
          <p:nvPr>
            <p:ph idx="1"/>
          </p:nvPr>
        </p:nvSpPr>
        <p:spPr>
          <a:xfrm>
            <a:off x="586091" y="1065019"/>
            <a:ext cx="11019817" cy="5724787"/>
          </a:xfrm>
        </p:spPr>
        <p:txBody>
          <a:bodyPr>
            <a:normAutofit/>
          </a:bodyPr>
          <a:lstStyle/>
          <a:p>
            <a:pPr marL="0" indent="0">
              <a:buNone/>
            </a:pPr>
            <a:r>
              <a:rPr lang="es-ES" sz="4400" noProof="0" dirty="0">
                <a:latin typeface="Garamond" panose="02020404030301010803" pitchFamily="18" charset="0"/>
              </a:rPr>
              <a:t>Indiscernibilidad (</a:t>
            </a:r>
            <a:r>
              <a:rPr lang="es-ES" sz="4400" i="1" noProof="0" dirty="0" err="1">
                <a:latin typeface="Garamond" panose="02020404030301010803" pitchFamily="18" charset="0"/>
              </a:rPr>
              <a:t>aparallaxia</a:t>
            </a:r>
            <a:r>
              <a:rPr lang="es-ES" sz="4400" noProof="0" dirty="0">
                <a:latin typeface="Garamond" panose="02020404030301010803" pitchFamily="18" charset="0"/>
              </a:rPr>
              <a:t>)</a:t>
            </a:r>
          </a:p>
          <a:p>
            <a:pPr marL="0" indent="0" algn="ctr">
              <a:buNone/>
            </a:pPr>
            <a:endParaRPr lang="es-ES" sz="4400" noProof="0" dirty="0">
              <a:latin typeface="Garamond" panose="02020404030301010803" pitchFamily="18" charset="0"/>
            </a:endParaRPr>
          </a:p>
          <a:p>
            <a:pPr marL="0" indent="0" algn="ctr">
              <a:buNone/>
            </a:pPr>
            <a:r>
              <a:rPr lang="es-ES" sz="4400" noProof="0" dirty="0">
                <a:latin typeface="Garamond" panose="02020404030301010803" pitchFamily="18" charset="0"/>
              </a:rPr>
              <a:t>K1 y K2 y ¬K3 </a:t>
            </a:r>
            <a:r>
              <a:rPr lang="es-ES" sz="4400" noProof="0" dirty="0">
                <a:latin typeface="Garamond" panose="02020404030301010803" pitchFamily="18" charset="0"/>
                <a:sym typeface="Wingdings" panose="05000000000000000000" pitchFamily="2" charset="2"/>
              </a:rPr>
              <a:t>↔ para cada impresión que proviene de un objeto existente y lo representa tal y como es, existe otra impresión, de mismo contenido y diferente proveniencia</a:t>
            </a:r>
            <a:r>
              <a:rPr lang="es-ES" sz="3600" noProof="0" dirty="0">
                <a:latin typeface="Garamond" panose="02020404030301010803" pitchFamily="18" charset="0"/>
                <a:sym typeface="Wingdings" panose="05000000000000000000" pitchFamily="2" charset="2"/>
              </a:rPr>
              <a:t>. </a:t>
            </a:r>
            <a:endParaRPr lang="es-ES" sz="3600" noProof="0" dirty="0">
              <a:latin typeface="Garamond" panose="02020404030301010803" pitchFamily="18" charset="0"/>
            </a:endParaRPr>
          </a:p>
        </p:txBody>
      </p:sp>
    </p:spTree>
    <p:extLst>
      <p:ext uri="{BB962C8B-B14F-4D97-AF65-F5344CB8AC3E}">
        <p14:creationId xmlns:p14="http://schemas.microsoft.com/office/powerpoint/2010/main" val="13694880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50F72-0409-0F1F-C0F9-2FD420E10AA5}"/>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CB97F46-0259-6248-9175-5E191341D0FC}"/>
              </a:ext>
            </a:extLst>
          </p:cNvPr>
          <p:cNvSpPr>
            <a:spLocks noGrp="1"/>
          </p:cNvSpPr>
          <p:nvPr>
            <p:ph idx="1"/>
          </p:nvPr>
        </p:nvSpPr>
        <p:spPr>
          <a:xfrm>
            <a:off x="838200" y="452176"/>
            <a:ext cx="11019817" cy="5724787"/>
          </a:xfrm>
        </p:spPr>
        <p:txBody>
          <a:bodyPr>
            <a:normAutofit fontScale="85000" lnSpcReduction="10000"/>
          </a:bodyPr>
          <a:lstStyle/>
          <a:p>
            <a:pPr>
              <a:lnSpc>
                <a:spcPct val="150000"/>
              </a:lnSpc>
            </a:pPr>
            <a:r>
              <a:rPr lang="es-ES" sz="3600" noProof="0" dirty="0">
                <a:latin typeface="Garamond" panose="02020404030301010803" pitchFamily="18" charset="0"/>
              </a:rPr>
              <a:t>Ejemplos existentes: gemelos, sellos, pares de huevos…</a:t>
            </a:r>
          </a:p>
          <a:p>
            <a:pPr marL="0" indent="0">
              <a:lnSpc>
                <a:spcPct val="150000"/>
              </a:lnSpc>
              <a:buNone/>
            </a:pPr>
            <a:r>
              <a:rPr lang="es-ES" sz="3600" noProof="0" dirty="0">
                <a:latin typeface="Garamond" panose="02020404030301010803" pitchFamily="18" charset="0"/>
                <a:sym typeface="Wingdings" panose="05000000000000000000" pitchFamily="2" charset="2"/>
              </a:rPr>
              <a:t>Estoicos: son casos excepcionales y hay gente que sí los discierne.</a:t>
            </a:r>
          </a:p>
          <a:p>
            <a:pPr>
              <a:lnSpc>
                <a:spcPct val="150000"/>
              </a:lnSpc>
            </a:pPr>
            <a:r>
              <a:rPr lang="es-ES" sz="3600" noProof="0" dirty="0">
                <a:latin typeface="Garamond" panose="02020404030301010803" pitchFamily="18" charset="0"/>
                <a:sym typeface="Wingdings" panose="05000000000000000000" pitchFamily="2" charset="2"/>
              </a:rPr>
              <a:t>Ejemplos basados en estados alterados: sueño, ebriedad, enfermedad…</a:t>
            </a:r>
          </a:p>
          <a:p>
            <a:pPr>
              <a:lnSpc>
                <a:spcPct val="150000"/>
              </a:lnSpc>
              <a:buFont typeface="Wingdings" panose="05000000000000000000" pitchFamily="2" charset="2"/>
              <a:buChar char="à"/>
            </a:pPr>
            <a:r>
              <a:rPr lang="es-ES" sz="3600" noProof="0" dirty="0">
                <a:latin typeface="Garamond" panose="02020404030301010803" pitchFamily="18" charset="0"/>
                <a:sym typeface="Wingdings" panose="05000000000000000000" pitchFamily="2" charset="2"/>
              </a:rPr>
              <a:t>Estoicos: marca distintiva</a:t>
            </a:r>
          </a:p>
          <a:p>
            <a:pPr>
              <a:lnSpc>
                <a:spcPct val="150000"/>
              </a:lnSpc>
            </a:pPr>
            <a:r>
              <a:rPr lang="es-ES" sz="3600" noProof="0" dirty="0">
                <a:latin typeface="Garamond" panose="02020404030301010803" pitchFamily="18" charset="0"/>
                <a:sym typeface="Wingdings" panose="05000000000000000000" pitchFamily="2" charset="2"/>
              </a:rPr>
              <a:t>Ejemplo de engaño divino.</a:t>
            </a:r>
          </a:p>
          <a:p>
            <a:pPr marL="0" indent="0">
              <a:lnSpc>
                <a:spcPct val="150000"/>
              </a:lnSpc>
              <a:buNone/>
            </a:pPr>
            <a:r>
              <a:rPr lang="es-ES" sz="3600" noProof="0" dirty="0">
                <a:latin typeface="Garamond" panose="02020404030301010803" pitchFamily="18" charset="0"/>
                <a:sym typeface="Wingdings" panose="05000000000000000000" pitchFamily="2" charset="2"/>
              </a:rPr>
              <a:t>Estoicos: dios es providencial.</a:t>
            </a:r>
            <a:endParaRPr lang="es-ES" sz="3600" noProof="0" dirty="0">
              <a:latin typeface="Garamond" panose="02020404030301010803" pitchFamily="18" charset="0"/>
            </a:endParaRPr>
          </a:p>
        </p:txBody>
      </p:sp>
    </p:spTree>
    <p:extLst>
      <p:ext uri="{BB962C8B-B14F-4D97-AF65-F5344CB8AC3E}">
        <p14:creationId xmlns:p14="http://schemas.microsoft.com/office/powerpoint/2010/main" val="12860965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D372A-C728-8928-C630-1AA3C68E213F}"/>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BE2DB49-C13F-526D-A93F-14576CB16C3F}"/>
              </a:ext>
            </a:extLst>
          </p:cNvPr>
          <p:cNvSpPr>
            <a:spLocks noGrp="1"/>
          </p:cNvSpPr>
          <p:nvPr>
            <p:ph idx="1"/>
          </p:nvPr>
        </p:nvSpPr>
        <p:spPr>
          <a:xfrm>
            <a:off x="838200" y="452176"/>
            <a:ext cx="11019817" cy="5724787"/>
          </a:xfrm>
        </p:spPr>
        <p:txBody>
          <a:bodyPr>
            <a:normAutofit/>
          </a:bodyPr>
          <a:lstStyle/>
          <a:p>
            <a:pPr>
              <a:lnSpc>
                <a:spcPct val="150000"/>
              </a:lnSpc>
            </a:pPr>
            <a:r>
              <a:rPr lang="es-ES" sz="3600" noProof="0" dirty="0">
                <a:latin typeface="Garamond" panose="02020404030301010803" pitchFamily="18" charset="0"/>
              </a:rPr>
              <a:t>Académicos </a:t>
            </a:r>
            <a:r>
              <a:rPr lang="es-ES" sz="3600" b="1" noProof="0" dirty="0">
                <a:latin typeface="Garamond" panose="02020404030301010803" pitchFamily="18" charset="0"/>
              </a:rPr>
              <a:t>no</a:t>
            </a:r>
            <a:r>
              <a:rPr lang="es-ES" sz="3600" noProof="0" dirty="0">
                <a:latin typeface="Garamond" panose="02020404030301010803" pitchFamily="18" charset="0"/>
              </a:rPr>
              <a:t> buscan socavar creencias con ejemplos.</a:t>
            </a:r>
          </a:p>
          <a:p>
            <a:pPr>
              <a:lnSpc>
                <a:spcPct val="150000"/>
              </a:lnSpc>
            </a:pPr>
            <a:r>
              <a:rPr lang="es-ES" sz="3600" noProof="0" dirty="0">
                <a:latin typeface="Garamond" panose="02020404030301010803" pitchFamily="18" charset="0"/>
              </a:rPr>
              <a:t>Buscan socavar intento estoico de establecer la certeza teóricamente.</a:t>
            </a:r>
          </a:p>
          <a:p>
            <a:pPr marL="0" indent="0" algn="ctr">
              <a:lnSpc>
                <a:spcPct val="150000"/>
              </a:lnSpc>
              <a:buNone/>
            </a:pPr>
            <a:r>
              <a:rPr lang="es-ES" sz="3600" noProof="0" dirty="0">
                <a:latin typeface="Garamond" panose="02020404030301010803" pitchFamily="18" charset="0"/>
              </a:rPr>
              <a:t>‘Gemelo A pudiera haber sido gemelo B’ ≠ ‘gemelo A podría ser gemelo B.’</a:t>
            </a:r>
          </a:p>
        </p:txBody>
      </p:sp>
    </p:spTree>
    <p:extLst>
      <p:ext uri="{BB962C8B-B14F-4D97-AF65-F5344CB8AC3E}">
        <p14:creationId xmlns:p14="http://schemas.microsoft.com/office/powerpoint/2010/main" val="7144042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DFE94-ED07-BF9A-E48C-C0B563FB19DC}"/>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9EAA72A-0599-DFC2-5C60-3C52C32CEF44}"/>
              </a:ext>
            </a:extLst>
          </p:cNvPr>
          <p:cNvSpPr>
            <a:spLocks noGrp="1"/>
          </p:cNvSpPr>
          <p:nvPr>
            <p:ph idx="1"/>
          </p:nvPr>
        </p:nvSpPr>
        <p:spPr>
          <a:xfrm>
            <a:off x="838200" y="452176"/>
            <a:ext cx="11019817" cy="5724787"/>
          </a:xfrm>
        </p:spPr>
        <p:txBody>
          <a:bodyPr>
            <a:normAutofit/>
          </a:bodyPr>
          <a:lstStyle/>
          <a:p>
            <a:pPr marL="0" indent="0">
              <a:lnSpc>
                <a:spcPct val="150000"/>
              </a:lnSpc>
              <a:buNone/>
            </a:pPr>
            <a:r>
              <a:rPr lang="es-ES" sz="3600" noProof="0" dirty="0">
                <a:latin typeface="Garamond" panose="02020404030301010803" pitchFamily="18" charset="0"/>
              </a:rPr>
              <a:t>Pero… el estoico:</a:t>
            </a:r>
          </a:p>
          <a:p>
            <a:pPr>
              <a:lnSpc>
                <a:spcPct val="150000"/>
              </a:lnSpc>
            </a:pPr>
            <a:r>
              <a:rPr lang="es-ES" sz="3600" noProof="0" dirty="0">
                <a:latin typeface="Garamond" panose="02020404030301010803" pitchFamily="18" charset="0"/>
              </a:rPr>
              <a:t>Entiende su experiencia epistémica en estos términos:</a:t>
            </a:r>
          </a:p>
          <a:p>
            <a:pPr marL="0" indent="0" algn="ctr">
              <a:lnSpc>
                <a:spcPct val="150000"/>
              </a:lnSpc>
              <a:buNone/>
            </a:pPr>
            <a:r>
              <a:rPr lang="es-ES" sz="3600" noProof="0" dirty="0">
                <a:latin typeface="Garamond" panose="02020404030301010803" pitchFamily="18" charset="0"/>
              </a:rPr>
              <a:t>creencias firmes y evidentes ↔ aprehensiones</a:t>
            </a:r>
          </a:p>
          <a:p>
            <a:pPr>
              <a:lnSpc>
                <a:spcPct val="150000"/>
              </a:lnSpc>
            </a:pPr>
            <a:r>
              <a:rPr lang="es-ES" sz="3600" noProof="0" dirty="0">
                <a:latin typeface="Garamond" panose="02020404030301010803" pitchFamily="18" charset="0"/>
              </a:rPr>
              <a:t>Debería formar creencias solo con aprehensiones</a:t>
            </a:r>
          </a:p>
        </p:txBody>
      </p:sp>
    </p:spTree>
    <p:extLst>
      <p:ext uri="{BB962C8B-B14F-4D97-AF65-F5344CB8AC3E}">
        <p14:creationId xmlns:p14="http://schemas.microsoft.com/office/powerpoint/2010/main" val="550839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A363177-CEF9-590A-1D47-C9B0C25F9674}"/>
              </a:ext>
            </a:extLst>
          </p:cNvPr>
          <p:cNvSpPr txBox="1"/>
          <p:nvPr/>
        </p:nvSpPr>
        <p:spPr>
          <a:xfrm>
            <a:off x="1348902" y="1746904"/>
            <a:ext cx="9494195" cy="3364191"/>
          </a:xfrm>
          <a:prstGeom prst="rect">
            <a:avLst/>
          </a:prstGeom>
          <a:noFill/>
        </p:spPr>
        <p:txBody>
          <a:bodyPr wrap="square">
            <a:spAutoFit/>
          </a:bodyPr>
          <a:lstStyle/>
          <a:p>
            <a:pPr algn="just">
              <a:lnSpc>
                <a:spcPct val="150000"/>
              </a:lnSpc>
            </a:pPr>
            <a:r>
              <a:rPr lang="es-ES" sz="2400" noProof="0" dirty="0">
                <a:latin typeface="Garamond" panose="02020404030301010803" pitchFamily="18" charset="0"/>
              </a:rPr>
              <a:t>“¿Es que ni siquiera se dan cuenta [los Académicos] de que están volviendo todo oscuro —cuando esa no es en absoluto su intención? (Llamo «oscuro» a lo que los griegos llaman </a:t>
            </a:r>
            <a:r>
              <a:rPr lang="es-ES" sz="2400" i="1" noProof="0" dirty="0" err="1">
                <a:latin typeface="Garamond" panose="02020404030301010803" pitchFamily="18" charset="0"/>
              </a:rPr>
              <a:t>adêla</a:t>
            </a:r>
            <a:r>
              <a:rPr lang="es-ES" sz="2400" noProof="0" dirty="0">
                <a:latin typeface="Garamond" panose="02020404030301010803" pitchFamily="18" charset="0"/>
              </a:rPr>
              <a:t>). Pues si las cosas son tales que no hay ninguna diferencia entre las impresiones de un loco y las de una persona cuerda, ¿quién puede estar seguro de su propia cordura? ¡Intentar alcanzar semejante resultado es ya en sí mismo un signo nada leve de locura!” (</a:t>
            </a:r>
            <a:r>
              <a:rPr lang="es-ES" sz="2400" i="1" noProof="0" dirty="0">
                <a:latin typeface="Garamond" panose="02020404030301010803" pitchFamily="18" charset="0"/>
              </a:rPr>
              <a:t>Acad</a:t>
            </a:r>
            <a:r>
              <a:rPr lang="es-ES" sz="2400" noProof="0" dirty="0">
                <a:latin typeface="Garamond" panose="02020404030301010803" pitchFamily="18" charset="0"/>
              </a:rPr>
              <a:t>. II, 54).</a:t>
            </a:r>
          </a:p>
        </p:txBody>
      </p:sp>
    </p:spTree>
    <p:extLst>
      <p:ext uri="{BB962C8B-B14F-4D97-AF65-F5344CB8AC3E}">
        <p14:creationId xmlns:p14="http://schemas.microsoft.com/office/powerpoint/2010/main" val="1040772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7F199D6-1B7A-1D62-8C48-1132924BD92D}"/>
              </a:ext>
            </a:extLst>
          </p:cNvPr>
          <p:cNvSpPr txBox="1"/>
          <p:nvPr/>
        </p:nvSpPr>
        <p:spPr>
          <a:xfrm>
            <a:off x="1418211" y="3667328"/>
            <a:ext cx="8450905" cy="1702197"/>
          </a:xfrm>
          <a:prstGeom prst="rect">
            <a:avLst/>
          </a:prstGeom>
          <a:noFill/>
        </p:spPr>
        <p:txBody>
          <a:bodyPr wrap="square">
            <a:spAutoFit/>
          </a:bodyPr>
          <a:lstStyle/>
          <a:p>
            <a:pPr algn="just">
              <a:lnSpc>
                <a:spcPct val="150000"/>
              </a:lnSpc>
              <a:buNone/>
            </a:pPr>
            <a:r>
              <a:rPr lang="es-ES" sz="2400" noProof="0" dirty="0">
                <a:latin typeface="Garamond" panose="02020404030301010803" pitchFamily="18" charset="0"/>
              </a:rPr>
              <a:t>“¿Cómo puedes seguir una filosofía que confunde lo verdadero y lo falso, nos priva de un criterio, nos arrebata el asentimiento y nos deja privados de nuestros sentidos?” (</a:t>
            </a:r>
            <a:r>
              <a:rPr lang="es-ES" sz="2400" i="1" noProof="0" dirty="0">
                <a:latin typeface="Garamond" panose="02020404030301010803" pitchFamily="18" charset="0"/>
              </a:rPr>
              <a:t>Acad</a:t>
            </a:r>
            <a:r>
              <a:rPr lang="es-ES" sz="2400" noProof="0" dirty="0">
                <a:latin typeface="Garamond" panose="02020404030301010803" pitchFamily="18" charset="0"/>
              </a:rPr>
              <a:t>. II, 61).</a:t>
            </a:r>
          </a:p>
        </p:txBody>
      </p:sp>
      <p:sp>
        <p:nvSpPr>
          <p:cNvPr id="11" name="CuadroTexto 10">
            <a:extLst>
              <a:ext uri="{FF2B5EF4-FFF2-40B4-BE49-F238E27FC236}">
                <a16:creationId xmlns:a16="http://schemas.microsoft.com/office/drawing/2014/main" id="{1FCB21BD-0485-E708-8393-B6247ACD0D6A}"/>
              </a:ext>
            </a:extLst>
          </p:cNvPr>
          <p:cNvSpPr txBox="1"/>
          <p:nvPr/>
        </p:nvSpPr>
        <p:spPr>
          <a:xfrm>
            <a:off x="1418211" y="797667"/>
            <a:ext cx="9355577" cy="2256195"/>
          </a:xfrm>
          <a:prstGeom prst="rect">
            <a:avLst/>
          </a:prstGeom>
          <a:noFill/>
        </p:spPr>
        <p:txBody>
          <a:bodyPr wrap="square">
            <a:spAutoFit/>
          </a:bodyPr>
          <a:lstStyle/>
          <a:p>
            <a:pPr algn="just">
              <a:lnSpc>
                <a:spcPct val="150000"/>
              </a:lnSpc>
            </a:pPr>
            <a:r>
              <a:rPr lang="es-ES" sz="2400" noProof="0" dirty="0">
                <a:latin typeface="Garamond" panose="02020404030301010803" pitchFamily="18" charset="0"/>
              </a:rPr>
              <a:t>“¿Cómo podríamos decir que alguien ha demostrado algo o descubierto algo? ¿Qué confianza podríamos tener en las demostraciones? Y, puesto que la filosofía debe avanzar mediante argumentos, ¿cómo obtendrá resultados? En definitiva, ¿qué será entonces de la sabiduría?” (</a:t>
            </a:r>
            <a:r>
              <a:rPr lang="es-ES" sz="2400" i="1" noProof="0" dirty="0">
                <a:latin typeface="Garamond" panose="02020404030301010803" pitchFamily="18" charset="0"/>
              </a:rPr>
              <a:t>Acad</a:t>
            </a:r>
            <a:r>
              <a:rPr lang="es-ES" sz="2400" noProof="0" dirty="0">
                <a:latin typeface="Garamond" panose="02020404030301010803" pitchFamily="18" charset="0"/>
              </a:rPr>
              <a:t>. II, 27).</a:t>
            </a:r>
          </a:p>
        </p:txBody>
      </p:sp>
    </p:spTree>
    <p:extLst>
      <p:ext uri="{BB962C8B-B14F-4D97-AF65-F5344CB8AC3E}">
        <p14:creationId xmlns:p14="http://schemas.microsoft.com/office/powerpoint/2010/main" val="29612878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F061119-61F1-2C70-73BF-D3EE19AD9D60}"/>
              </a:ext>
            </a:extLst>
          </p:cNvPr>
          <p:cNvSpPr txBox="1"/>
          <p:nvPr/>
        </p:nvSpPr>
        <p:spPr>
          <a:xfrm>
            <a:off x="1928913" y="2104791"/>
            <a:ext cx="8334173" cy="1970539"/>
          </a:xfrm>
          <a:prstGeom prst="rect">
            <a:avLst/>
          </a:prstGeom>
          <a:noFill/>
        </p:spPr>
        <p:txBody>
          <a:bodyPr wrap="square">
            <a:spAutoFit/>
          </a:bodyPr>
          <a:lstStyle/>
          <a:p>
            <a:pPr algn="just">
              <a:lnSpc>
                <a:spcPct val="150000"/>
              </a:lnSpc>
            </a:pPr>
            <a:r>
              <a:rPr lang="es-ES" sz="2800" noProof="0" dirty="0">
                <a:latin typeface="Garamond" panose="02020404030301010803" pitchFamily="18" charset="0"/>
              </a:rPr>
              <a:t>“No negamos [los Académicos] que algo sea verdadero, aunque sí negamos que algo sea aprehensible.” (</a:t>
            </a:r>
            <a:r>
              <a:rPr lang="es-ES" sz="2800" i="1" noProof="0" dirty="0">
                <a:latin typeface="Garamond" panose="02020404030301010803" pitchFamily="18" charset="0"/>
              </a:rPr>
              <a:t>Acad</a:t>
            </a:r>
            <a:r>
              <a:rPr lang="es-ES" sz="2800" noProof="0" dirty="0">
                <a:latin typeface="Garamond" panose="02020404030301010803" pitchFamily="18" charset="0"/>
              </a:rPr>
              <a:t>. II, 72).</a:t>
            </a:r>
          </a:p>
        </p:txBody>
      </p:sp>
    </p:spTree>
    <p:extLst>
      <p:ext uri="{BB962C8B-B14F-4D97-AF65-F5344CB8AC3E}">
        <p14:creationId xmlns:p14="http://schemas.microsoft.com/office/powerpoint/2010/main" val="1441970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A5D19DD-D11E-31CF-8F3D-469F4C8DCB73}"/>
              </a:ext>
            </a:extLst>
          </p:cNvPr>
          <p:cNvSpPr txBox="1"/>
          <p:nvPr/>
        </p:nvSpPr>
        <p:spPr>
          <a:xfrm>
            <a:off x="1378085" y="357784"/>
            <a:ext cx="9435830" cy="5831148"/>
          </a:xfrm>
          <a:prstGeom prst="rect">
            <a:avLst/>
          </a:prstGeom>
          <a:noFill/>
        </p:spPr>
        <p:txBody>
          <a:bodyPr wrap="square" rtlCol="0">
            <a:spAutoFit/>
          </a:bodyPr>
          <a:lstStyle/>
          <a:p>
            <a:pPr>
              <a:lnSpc>
                <a:spcPct val="150000"/>
              </a:lnSpc>
            </a:pPr>
            <a:r>
              <a:rPr lang="es-ES" sz="3600" noProof="0" dirty="0">
                <a:latin typeface="Garamond" panose="02020404030301010803" pitchFamily="18" charset="0"/>
              </a:rPr>
              <a:t>Todas las cosas son inaprehensibles </a:t>
            </a:r>
            <a:r>
              <a:rPr lang="es-ES" sz="3600" noProof="0" dirty="0">
                <a:latin typeface="Garamond" panose="02020404030301010803" pitchFamily="18" charset="0"/>
                <a:sym typeface="Wingdings" panose="05000000000000000000" pitchFamily="2" charset="2"/>
              </a:rPr>
              <a:t> el sabio no podrá asentir a ninguna  el sabio suspenderá juicio sobre todas las cosas.</a:t>
            </a:r>
          </a:p>
          <a:p>
            <a:pPr>
              <a:lnSpc>
                <a:spcPct val="150000"/>
              </a:lnSpc>
            </a:pPr>
            <a:endParaRPr lang="es-ES" sz="3600" noProof="0" dirty="0">
              <a:latin typeface="Garamond" panose="02020404030301010803" pitchFamily="18" charset="0"/>
              <a:sym typeface="Wingdings" panose="05000000000000000000" pitchFamily="2" charset="2"/>
            </a:endParaRPr>
          </a:p>
          <a:p>
            <a:pPr>
              <a:lnSpc>
                <a:spcPct val="150000"/>
              </a:lnSpc>
            </a:pPr>
            <a:r>
              <a:rPr lang="es-ES" sz="3600" b="1" i="1" noProof="0" dirty="0">
                <a:latin typeface="Garamond" panose="02020404030301010803" pitchFamily="18" charset="0"/>
                <a:sym typeface="Wingdings" panose="05000000000000000000" pitchFamily="2" charset="2"/>
              </a:rPr>
              <a:t>Apraxia</a:t>
            </a:r>
            <a:r>
              <a:rPr lang="es-ES" sz="3600" noProof="0" dirty="0">
                <a:latin typeface="Garamond" panose="02020404030301010803" pitchFamily="18" charset="0"/>
                <a:sym typeface="Wingdings" panose="05000000000000000000" pitchFamily="2" charset="2"/>
              </a:rPr>
              <a:t>: la acción necesita asentimiento la conclusión académica es absurda  sus argumentos pueden ser descartados.</a:t>
            </a:r>
          </a:p>
        </p:txBody>
      </p:sp>
    </p:spTree>
    <p:extLst>
      <p:ext uri="{BB962C8B-B14F-4D97-AF65-F5344CB8AC3E}">
        <p14:creationId xmlns:p14="http://schemas.microsoft.com/office/powerpoint/2010/main" val="1728764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descr="Imagen que contiene persona, hombre, edificio, vistiendo&#10;&#10;El contenido generado por IA puede ser incorrecto.">
            <a:extLst>
              <a:ext uri="{FF2B5EF4-FFF2-40B4-BE49-F238E27FC236}">
                <a16:creationId xmlns:a16="http://schemas.microsoft.com/office/drawing/2014/main" id="{458EECCD-240D-2BFD-AD75-F5C7BAC5D0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3440" y="0"/>
            <a:ext cx="4845120" cy="6858000"/>
          </a:xfrm>
          <a:prstGeom prst="rect">
            <a:avLst/>
          </a:prstGeom>
        </p:spPr>
      </p:pic>
    </p:spTree>
    <p:extLst>
      <p:ext uri="{BB962C8B-B14F-4D97-AF65-F5344CB8AC3E}">
        <p14:creationId xmlns:p14="http://schemas.microsoft.com/office/powerpoint/2010/main" val="648155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570ADB4-2053-9BD0-CD6C-0ADC02EA09B5}"/>
              </a:ext>
            </a:extLst>
          </p:cNvPr>
          <p:cNvSpPr txBox="1"/>
          <p:nvPr/>
        </p:nvSpPr>
        <p:spPr>
          <a:xfrm>
            <a:off x="1171903" y="1201595"/>
            <a:ext cx="9848193" cy="4454809"/>
          </a:xfrm>
          <a:prstGeom prst="rect">
            <a:avLst/>
          </a:prstGeom>
          <a:noFill/>
        </p:spPr>
        <p:txBody>
          <a:bodyPr wrap="square" rtlCol="0">
            <a:spAutoFit/>
          </a:bodyPr>
          <a:lstStyle/>
          <a:p>
            <a:pPr>
              <a:lnSpc>
                <a:spcPct val="150000"/>
              </a:lnSpc>
            </a:pPr>
            <a:r>
              <a:rPr lang="es-ES" sz="3200" noProof="0" dirty="0">
                <a:latin typeface="Garamond" panose="02020404030301010803" pitchFamily="18" charset="0"/>
              </a:rPr>
              <a:t>Inaprehensibilidad </a:t>
            </a:r>
            <a:r>
              <a:rPr lang="es-ES" sz="3200" b="1" noProof="0" dirty="0">
                <a:latin typeface="Garamond" panose="02020404030301010803" pitchFamily="18" charset="0"/>
              </a:rPr>
              <a:t>no </a:t>
            </a:r>
            <a:r>
              <a:rPr lang="es-ES" sz="3200" noProof="0" dirty="0">
                <a:latin typeface="Garamond" panose="02020404030301010803" pitchFamily="18" charset="0"/>
              </a:rPr>
              <a:t>implica desesperación epistémica para los académicos </a:t>
            </a:r>
            <a:r>
              <a:rPr lang="es-ES" sz="3200" b="1" noProof="0" dirty="0">
                <a:latin typeface="Garamond" panose="02020404030301010803" pitchFamily="18" charset="0"/>
              </a:rPr>
              <a:t>ni </a:t>
            </a:r>
            <a:r>
              <a:rPr lang="es-ES" sz="3200" noProof="0" dirty="0">
                <a:latin typeface="Garamond" panose="02020404030301010803" pitchFamily="18" charset="0"/>
              </a:rPr>
              <a:t>pretendían causarla en los estoicos.</a:t>
            </a:r>
          </a:p>
          <a:p>
            <a:pPr>
              <a:lnSpc>
                <a:spcPct val="150000"/>
              </a:lnSpc>
            </a:pPr>
            <a:endParaRPr lang="es-ES" sz="3200" noProof="0" dirty="0">
              <a:latin typeface="Garamond" panose="02020404030301010803" pitchFamily="18" charset="0"/>
            </a:endParaRPr>
          </a:p>
          <a:p>
            <a:pPr>
              <a:lnSpc>
                <a:spcPct val="150000"/>
              </a:lnSpc>
            </a:pPr>
            <a:r>
              <a:rPr lang="es-ES" sz="3200" noProof="0" dirty="0">
                <a:latin typeface="Garamond" panose="02020404030301010803" pitchFamily="18" charset="0"/>
              </a:rPr>
              <a:t>Los estoicos reticentes a revisar su doctrina </a:t>
            </a:r>
            <a:r>
              <a:rPr lang="es-ES" sz="3200" b="1" noProof="0" dirty="0">
                <a:latin typeface="Garamond" panose="02020404030301010803" pitchFamily="18" charset="0"/>
              </a:rPr>
              <a:t>sí</a:t>
            </a:r>
            <a:r>
              <a:rPr lang="es-ES" sz="3200" noProof="0" dirty="0">
                <a:latin typeface="Garamond" panose="02020404030301010803" pitchFamily="18" charset="0"/>
              </a:rPr>
              <a:t> experimentaban este vértigo y se lo recriminaban a los Académicos.</a:t>
            </a:r>
          </a:p>
        </p:txBody>
      </p:sp>
    </p:spTree>
    <p:extLst>
      <p:ext uri="{BB962C8B-B14F-4D97-AF65-F5344CB8AC3E}">
        <p14:creationId xmlns:p14="http://schemas.microsoft.com/office/powerpoint/2010/main" val="925962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descr="Imagen que contiene hombre, edificio, persona, frente&#10;&#10;El contenido generado por IA puede ser incorrecto.">
            <a:extLst>
              <a:ext uri="{FF2B5EF4-FFF2-40B4-BE49-F238E27FC236}">
                <a16:creationId xmlns:a16="http://schemas.microsoft.com/office/drawing/2014/main" id="{7ABF15B9-E06E-1EBF-92F0-3B7EA68F9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5315" y="-418665"/>
            <a:ext cx="5601369" cy="7276665"/>
          </a:xfrm>
          <a:prstGeom prst="rect">
            <a:avLst/>
          </a:prstGeom>
        </p:spPr>
      </p:pic>
    </p:spTree>
    <p:extLst>
      <p:ext uri="{BB962C8B-B14F-4D97-AF65-F5344CB8AC3E}">
        <p14:creationId xmlns:p14="http://schemas.microsoft.com/office/powerpoint/2010/main" val="13135128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60FB6AB-152B-C36D-7BA2-75F69A7A7EDB}"/>
              </a:ext>
            </a:extLst>
          </p:cNvPr>
          <p:cNvSpPr txBox="1"/>
          <p:nvPr/>
        </p:nvSpPr>
        <p:spPr>
          <a:xfrm>
            <a:off x="734438" y="1889093"/>
            <a:ext cx="10723123" cy="1852110"/>
          </a:xfrm>
          <a:prstGeom prst="rect">
            <a:avLst/>
          </a:prstGeom>
          <a:noFill/>
        </p:spPr>
        <p:txBody>
          <a:bodyPr wrap="square" rtlCol="0">
            <a:spAutoFit/>
          </a:bodyPr>
          <a:lstStyle/>
          <a:p>
            <a:pPr marL="571500" indent="-571500">
              <a:lnSpc>
                <a:spcPct val="150000"/>
              </a:lnSpc>
              <a:buFont typeface="Arial" panose="020B0604020202020204" pitchFamily="34" charset="0"/>
              <a:buChar char="•"/>
            </a:pPr>
            <a:r>
              <a:rPr lang="es-ES" sz="4000" noProof="0" dirty="0">
                <a:latin typeface="Garamond" panose="02020404030301010803" pitchFamily="18" charset="0"/>
              </a:rPr>
              <a:t>Académicos: ‘el conocimiento es imposible.’ (¿?)</a:t>
            </a:r>
          </a:p>
          <a:p>
            <a:pPr marL="571500" indent="-571500">
              <a:lnSpc>
                <a:spcPct val="150000"/>
              </a:lnSpc>
              <a:buFont typeface="Arial" panose="020B0604020202020204" pitchFamily="34" charset="0"/>
              <a:buChar char="•"/>
            </a:pPr>
            <a:r>
              <a:rPr lang="es-ES" sz="4000" noProof="0" dirty="0">
                <a:latin typeface="Garamond" panose="02020404030301010803" pitchFamily="18" charset="0"/>
              </a:rPr>
              <a:t>Pirrónicos: ‘la justificación es imposible.’ (¿?)</a:t>
            </a:r>
          </a:p>
        </p:txBody>
      </p:sp>
    </p:spTree>
    <p:extLst>
      <p:ext uri="{BB962C8B-B14F-4D97-AF65-F5344CB8AC3E}">
        <p14:creationId xmlns:p14="http://schemas.microsoft.com/office/powerpoint/2010/main" val="391505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B7787-C919-FB28-B7AE-89D22AD491DF}"/>
            </a:ext>
          </a:extLst>
        </p:cNvPr>
        <p:cNvGrpSpPr/>
        <p:nvPr/>
      </p:nvGrpSpPr>
      <p:grpSpPr>
        <a:xfrm>
          <a:off x="0" y="0"/>
          <a:ext cx="0" cy="0"/>
          <a:chOff x="0" y="0"/>
          <a:chExt cx="0" cy="0"/>
        </a:xfrm>
      </p:grpSpPr>
      <p:sp>
        <p:nvSpPr>
          <p:cNvPr id="2" name="CuadroTexto 1">
            <a:extLst>
              <a:ext uri="{FF2B5EF4-FFF2-40B4-BE49-F238E27FC236}">
                <a16:creationId xmlns:a16="http://schemas.microsoft.com/office/drawing/2014/main" id="{7AEED3E3-5493-9151-A560-5D768651C482}"/>
              </a:ext>
            </a:extLst>
          </p:cNvPr>
          <p:cNvSpPr txBox="1"/>
          <p:nvPr/>
        </p:nvSpPr>
        <p:spPr>
          <a:xfrm>
            <a:off x="3697726" y="272510"/>
            <a:ext cx="4796547" cy="7106433"/>
          </a:xfrm>
          <a:prstGeom prst="rect">
            <a:avLst/>
          </a:prstGeom>
          <a:noFill/>
        </p:spPr>
        <p:txBody>
          <a:bodyPr wrap="square" rtlCol="0">
            <a:spAutoFit/>
          </a:bodyPr>
          <a:lstStyle/>
          <a:p>
            <a:pPr algn="just">
              <a:lnSpc>
                <a:spcPct val="150000"/>
              </a:lnSpc>
            </a:pPr>
            <a:r>
              <a:rPr lang="es-ES" sz="4400" noProof="0" dirty="0">
                <a:latin typeface="Garamond" panose="02020404030301010803" pitchFamily="18" charset="0"/>
              </a:rPr>
              <a:t>Modos de Agripa:</a:t>
            </a:r>
          </a:p>
          <a:p>
            <a:pPr marL="571500" indent="-571500" algn="just">
              <a:lnSpc>
                <a:spcPct val="150000"/>
              </a:lnSpc>
              <a:buFont typeface="Arial" panose="020B0604020202020204" pitchFamily="34" charset="0"/>
              <a:buChar char="•"/>
            </a:pPr>
            <a:r>
              <a:rPr lang="es-ES" sz="4400" noProof="0" dirty="0">
                <a:latin typeface="Garamond" panose="02020404030301010803" pitchFamily="18" charset="0"/>
              </a:rPr>
              <a:t>Desacuerdo.</a:t>
            </a:r>
          </a:p>
          <a:p>
            <a:pPr marL="571500" indent="-571500" algn="just">
              <a:lnSpc>
                <a:spcPct val="150000"/>
              </a:lnSpc>
              <a:buFont typeface="Arial" panose="020B0604020202020204" pitchFamily="34" charset="0"/>
              <a:buChar char="•"/>
            </a:pPr>
            <a:r>
              <a:rPr lang="es-ES" sz="4400" noProof="0" dirty="0">
                <a:latin typeface="Garamond" panose="02020404030301010803" pitchFamily="18" charset="0"/>
              </a:rPr>
              <a:t>Regresión infinita.</a:t>
            </a:r>
          </a:p>
          <a:p>
            <a:pPr marL="571500" indent="-571500" algn="just">
              <a:lnSpc>
                <a:spcPct val="150000"/>
              </a:lnSpc>
              <a:buFont typeface="Arial" panose="020B0604020202020204" pitchFamily="34" charset="0"/>
              <a:buChar char="•"/>
            </a:pPr>
            <a:r>
              <a:rPr lang="es-ES" sz="4400" noProof="0" dirty="0">
                <a:latin typeface="Garamond" panose="02020404030301010803" pitchFamily="18" charset="0"/>
              </a:rPr>
              <a:t>Relatividad.</a:t>
            </a:r>
          </a:p>
          <a:p>
            <a:pPr marL="571500" indent="-571500" algn="just">
              <a:lnSpc>
                <a:spcPct val="150000"/>
              </a:lnSpc>
              <a:buFont typeface="Arial" panose="020B0604020202020204" pitchFamily="34" charset="0"/>
              <a:buChar char="•"/>
            </a:pPr>
            <a:r>
              <a:rPr lang="es-ES" sz="4400" noProof="0" dirty="0">
                <a:latin typeface="Garamond" panose="02020404030301010803" pitchFamily="18" charset="0"/>
              </a:rPr>
              <a:t>Reciprocidad. </a:t>
            </a:r>
          </a:p>
          <a:p>
            <a:pPr marL="571500" indent="-571500" algn="just">
              <a:lnSpc>
                <a:spcPct val="150000"/>
              </a:lnSpc>
              <a:buFont typeface="Arial" panose="020B0604020202020204" pitchFamily="34" charset="0"/>
              <a:buChar char="•"/>
            </a:pPr>
            <a:r>
              <a:rPr lang="es-ES" sz="4400" noProof="0" dirty="0">
                <a:latin typeface="Garamond" panose="02020404030301010803" pitchFamily="18" charset="0"/>
              </a:rPr>
              <a:t>Hipótesis.</a:t>
            </a:r>
          </a:p>
          <a:p>
            <a:pPr marL="571500" indent="-571500">
              <a:lnSpc>
                <a:spcPct val="150000"/>
              </a:lnSpc>
              <a:buFont typeface="Arial" panose="020B0604020202020204" pitchFamily="34" charset="0"/>
              <a:buChar char="•"/>
            </a:pPr>
            <a:endParaRPr lang="es-ES" sz="4400" noProof="0" dirty="0">
              <a:latin typeface="Garamond" panose="02020404030301010803" pitchFamily="18" charset="0"/>
            </a:endParaRPr>
          </a:p>
        </p:txBody>
      </p:sp>
    </p:spTree>
    <p:extLst>
      <p:ext uri="{BB962C8B-B14F-4D97-AF65-F5344CB8AC3E}">
        <p14:creationId xmlns:p14="http://schemas.microsoft.com/office/powerpoint/2010/main" val="6431699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FA5374D-8B09-659D-4ABC-174BE4ED9BE7}"/>
              </a:ext>
            </a:extLst>
          </p:cNvPr>
          <p:cNvSpPr txBox="1"/>
          <p:nvPr/>
        </p:nvSpPr>
        <p:spPr>
          <a:xfrm>
            <a:off x="1466867" y="1763879"/>
            <a:ext cx="9501492" cy="2256195"/>
          </a:xfrm>
          <a:prstGeom prst="rect">
            <a:avLst/>
          </a:prstGeom>
          <a:noFill/>
        </p:spPr>
        <p:txBody>
          <a:bodyPr wrap="square">
            <a:spAutoFit/>
          </a:bodyPr>
          <a:lstStyle/>
          <a:p>
            <a:pPr algn="just">
              <a:lnSpc>
                <a:spcPct val="150000"/>
              </a:lnSpc>
            </a:pPr>
            <a:r>
              <a:rPr lang="es-ES" sz="2400" noProof="0" dirty="0">
                <a:latin typeface="Garamond" panose="02020404030301010803" pitchFamily="18" charset="0"/>
              </a:rPr>
              <a:t>“La </a:t>
            </a:r>
            <a:r>
              <a:rPr lang="es-ES" sz="2400" i="1" noProof="0" dirty="0" err="1">
                <a:latin typeface="Garamond" panose="02020404030301010803" pitchFamily="18" charset="0"/>
              </a:rPr>
              <a:t>sképsis</a:t>
            </a:r>
            <a:r>
              <a:rPr lang="es-ES" sz="2400" noProof="0" dirty="0">
                <a:latin typeface="Garamond" panose="02020404030301010803" pitchFamily="18" charset="0"/>
              </a:rPr>
              <a:t> es la habilidad de poner en oposición apariencias y juicios de cualquier modo, de forma que, por la equipolencia de las cosas y razonamientos opuestos, llegamos primero a la suspensión del juicio </a:t>
            </a:r>
            <a:r>
              <a:rPr lang="es-ES" sz="2400" i="1" noProof="0" dirty="0">
                <a:latin typeface="Garamond" panose="02020404030301010803" pitchFamily="18" charset="0"/>
              </a:rPr>
              <a:t>[</a:t>
            </a:r>
            <a:r>
              <a:rPr lang="es-ES" sz="2400" i="1" noProof="0" dirty="0" err="1">
                <a:latin typeface="Garamond" panose="02020404030301010803" pitchFamily="18" charset="0"/>
              </a:rPr>
              <a:t>epoché</a:t>
            </a:r>
            <a:r>
              <a:rPr lang="es-ES" sz="2400" i="1" noProof="0" dirty="0">
                <a:latin typeface="Garamond" panose="02020404030301010803" pitchFamily="18" charset="0"/>
              </a:rPr>
              <a:t>]</a:t>
            </a:r>
            <a:r>
              <a:rPr lang="es-ES" sz="2400" noProof="0" dirty="0">
                <a:latin typeface="Garamond" panose="02020404030301010803" pitchFamily="18" charset="0"/>
              </a:rPr>
              <a:t> y después a la tranquilidad </a:t>
            </a:r>
            <a:r>
              <a:rPr lang="es-ES" sz="2400" i="1" noProof="0" dirty="0">
                <a:latin typeface="Garamond" panose="02020404030301010803" pitchFamily="18" charset="0"/>
              </a:rPr>
              <a:t>[</a:t>
            </a:r>
            <a:r>
              <a:rPr lang="es-ES" sz="2400" i="1" noProof="0" dirty="0" err="1">
                <a:latin typeface="Garamond" panose="02020404030301010803" pitchFamily="18" charset="0"/>
              </a:rPr>
              <a:t>ataraxía</a:t>
            </a:r>
            <a:r>
              <a:rPr lang="es-ES" sz="2400" i="1" noProof="0" dirty="0">
                <a:latin typeface="Garamond" panose="02020404030301010803" pitchFamily="18" charset="0"/>
              </a:rPr>
              <a:t>]</a:t>
            </a:r>
            <a:r>
              <a:rPr lang="es-ES" sz="2400" noProof="0" dirty="0">
                <a:latin typeface="Garamond" panose="02020404030301010803" pitchFamily="18" charset="0"/>
              </a:rPr>
              <a:t>.” (HP. I, 8).</a:t>
            </a:r>
          </a:p>
        </p:txBody>
      </p:sp>
    </p:spTree>
    <p:extLst>
      <p:ext uri="{BB962C8B-B14F-4D97-AF65-F5344CB8AC3E}">
        <p14:creationId xmlns:p14="http://schemas.microsoft.com/office/powerpoint/2010/main" val="2659141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3B20EE1-B52D-B2F9-79AC-D01BE0E54FD5}"/>
              </a:ext>
            </a:extLst>
          </p:cNvPr>
          <p:cNvSpPr txBox="1"/>
          <p:nvPr/>
        </p:nvSpPr>
        <p:spPr>
          <a:xfrm>
            <a:off x="1615440" y="396240"/>
            <a:ext cx="8453120" cy="1148199"/>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s-ES" sz="2400" b="1" noProof="0" dirty="0">
                <a:latin typeface="Garamond" panose="02020404030301010803" pitchFamily="18" charset="0"/>
              </a:rPr>
              <a:t>No</a:t>
            </a:r>
            <a:r>
              <a:rPr lang="es-ES" sz="2400" noProof="0" dirty="0">
                <a:latin typeface="Garamond" panose="02020404030301010803" pitchFamily="18" charset="0"/>
              </a:rPr>
              <a:t> justificación imposible </a:t>
            </a:r>
            <a:r>
              <a:rPr lang="es-ES" sz="2400" noProof="0" dirty="0">
                <a:latin typeface="Garamond" panose="02020404030301010803" pitchFamily="18" charset="0"/>
                <a:sym typeface="Wingdings" panose="05000000000000000000" pitchFamily="2" charset="2"/>
              </a:rPr>
              <a:t> suspensión de juicio.</a:t>
            </a:r>
          </a:p>
          <a:p>
            <a:pPr marL="285750" indent="-285750">
              <a:lnSpc>
                <a:spcPct val="150000"/>
              </a:lnSpc>
              <a:buFont typeface="Arial" panose="020B0604020202020204" pitchFamily="34" charset="0"/>
              <a:buChar char="•"/>
            </a:pPr>
            <a:r>
              <a:rPr lang="es-ES" sz="2400" b="1" noProof="0" dirty="0">
                <a:latin typeface="Garamond" panose="02020404030301010803" pitchFamily="18" charset="0"/>
                <a:sym typeface="Wingdings" panose="05000000000000000000" pitchFamily="2" charset="2"/>
              </a:rPr>
              <a:t>Sí </a:t>
            </a:r>
            <a:r>
              <a:rPr lang="es-ES" sz="2400" noProof="0" dirty="0">
                <a:latin typeface="Garamond" panose="02020404030301010803" pitchFamily="18" charset="0"/>
                <a:sym typeface="Wingdings" panose="05000000000000000000" pitchFamily="2" charset="2"/>
              </a:rPr>
              <a:t>suspensión de juicio  </a:t>
            </a:r>
            <a:r>
              <a:rPr lang="es-ES" sz="2400" i="1" noProof="0" dirty="0">
                <a:latin typeface="Garamond" panose="02020404030301010803" pitchFamily="18" charset="0"/>
                <a:sym typeface="Wingdings" panose="05000000000000000000" pitchFamily="2" charset="2"/>
              </a:rPr>
              <a:t>ataraxia </a:t>
            </a:r>
            <a:r>
              <a:rPr lang="es-ES" sz="2400" noProof="0" dirty="0">
                <a:latin typeface="Garamond" panose="02020404030301010803" pitchFamily="18" charset="0"/>
                <a:sym typeface="Wingdings" panose="05000000000000000000" pitchFamily="2" charset="2"/>
              </a:rPr>
              <a:t> prácticas para mantenerla</a:t>
            </a:r>
            <a:r>
              <a:rPr lang="es-ES" sz="2400" i="1" noProof="0" dirty="0">
                <a:latin typeface="Garamond" panose="02020404030301010803" pitchFamily="18" charset="0"/>
                <a:sym typeface="Wingdings" panose="05000000000000000000" pitchFamily="2" charset="2"/>
              </a:rPr>
              <a:t>.</a:t>
            </a:r>
            <a:endParaRPr lang="es-ES" sz="2400" b="1" i="1" noProof="0" dirty="0">
              <a:latin typeface="Garamond" panose="02020404030301010803" pitchFamily="18" charset="0"/>
            </a:endParaRPr>
          </a:p>
        </p:txBody>
      </p:sp>
      <p:sp>
        <p:nvSpPr>
          <p:cNvPr id="6" name="CuadroTexto 5">
            <a:extLst>
              <a:ext uri="{FF2B5EF4-FFF2-40B4-BE49-F238E27FC236}">
                <a16:creationId xmlns:a16="http://schemas.microsoft.com/office/drawing/2014/main" id="{00685976-4352-CED7-9825-EC03441FDF6F}"/>
              </a:ext>
            </a:extLst>
          </p:cNvPr>
          <p:cNvSpPr txBox="1"/>
          <p:nvPr/>
        </p:nvSpPr>
        <p:spPr>
          <a:xfrm>
            <a:off x="1615440" y="1796187"/>
            <a:ext cx="9296400" cy="4665573"/>
          </a:xfrm>
          <a:prstGeom prst="rect">
            <a:avLst/>
          </a:prstGeom>
          <a:noFill/>
        </p:spPr>
        <p:txBody>
          <a:bodyPr wrap="square">
            <a:spAutoFit/>
          </a:bodyPr>
          <a:lstStyle/>
          <a:p>
            <a:pPr algn="just">
              <a:lnSpc>
                <a:spcPct val="150000"/>
              </a:lnSpc>
            </a:pPr>
            <a:r>
              <a:rPr lang="es-ES" sz="2000" noProof="0" dirty="0">
                <a:latin typeface="Garamond" panose="02020404030301010803" pitchFamily="18" charset="0"/>
              </a:rPr>
              <a:t>“Al escéptico le ocurrió lo que se cuenta del pintor Apeles. Dicen, en efecto, que —estando pintando un caballo y queriendo imitar en la pintura la baba del caballo— tenía tan poco éxito en ello que desistió del empeño y arrojó contra el cuadro la esponja donde mezclaba los colores del pincel, y que cuando ésta chocó contra él plasmó la forma de la baba del caballo.</a:t>
            </a:r>
          </a:p>
          <a:p>
            <a:pPr algn="just">
              <a:lnSpc>
                <a:spcPct val="150000"/>
              </a:lnSpc>
            </a:pPr>
            <a:endParaRPr lang="es-ES" sz="2000" noProof="0" dirty="0">
              <a:latin typeface="Garamond" panose="02020404030301010803" pitchFamily="18" charset="0"/>
            </a:endParaRPr>
          </a:p>
          <a:p>
            <a:pPr algn="just">
              <a:lnSpc>
                <a:spcPct val="150000"/>
              </a:lnSpc>
            </a:pPr>
            <a:r>
              <a:rPr lang="es-ES" sz="2000" noProof="0" dirty="0">
                <a:latin typeface="Garamond" panose="02020404030301010803" pitchFamily="18" charset="0"/>
              </a:rPr>
              <a:t>También los escépticos, en efecto, esperaban recobrar la serenidad de espíritu a base de enjuiciar la disparidad de los fenómenos y de las consideraciones teóricas; pero no siendo capaces de hacer eso suspendieron sus juicios y, al suspender sus juicios, les acompañó como por azar la serenidad de espíritu, lo mismo que la sombra sigue al cuerpo.” (HP. I, 28-9).</a:t>
            </a:r>
          </a:p>
        </p:txBody>
      </p:sp>
    </p:spTree>
    <p:extLst>
      <p:ext uri="{BB962C8B-B14F-4D97-AF65-F5344CB8AC3E}">
        <p14:creationId xmlns:p14="http://schemas.microsoft.com/office/powerpoint/2010/main" val="1391085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E8439FBF-4570-FE6D-57FF-DD25553AF22B}"/>
              </a:ext>
            </a:extLst>
          </p:cNvPr>
          <p:cNvSpPr txBox="1"/>
          <p:nvPr/>
        </p:nvSpPr>
        <p:spPr>
          <a:xfrm>
            <a:off x="1656080" y="1746904"/>
            <a:ext cx="8879840" cy="3364191"/>
          </a:xfrm>
          <a:prstGeom prst="rect">
            <a:avLst/>
          </a:prstGeom>
          <a:noFill/>
        </p:spPr>
        <p:txBody>
          <a:bodyPr wrap="square">
            <a:spAutoFit/>
          </a:bodyPr>
          <a:lstStyle/>
          <a:p>
            <a:pPr algn="just">
              <a:lnSpc>
                <a:spcPct val="150000"/>
              </a:lnSpc>
            </a:pPr>
            <a:r>
              <a:rPr lang="es-ES" sz="2400" noProof="0" dirty="0">
                <a:latin typeface="Garamond" panose="02020404030301010803" pitchFamily="18" charset="0"/>
              </a:rPr>
              <a:t>“Y además, si en público planteamos problemas sobre las apariencias no los ponemos con la intención de invalidarlas, sino para hacer ver la temeridad de los dogmáticos; pues si la Razón es tan engañosa que casi nos arrebata hasta lo que percibimos por nuestros ojos, ¿cómo no habrá que mirarla con recelo en las cosas no evidentes, para no precipitarnos cuando la seguimos?.” (HP. I, 20).</a:t>
            </a:r>
          </a:p>
        </p:txBody>
      </p:sp>
    </p:spTree>
    <p:extLst>
      <p:ext uri="{BB962C8B-B14F-4D97-AF65-F5344CB8AC3E}">
        <p14:creationId xmlns:p14="http://schemas.microsoft.com/office/powerpoint/2010/main" val="15115632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52A7019-17B0-5944-6542-9222FD2CBAA6}"/>
              </a:ext>
            </a:extLst>
          </p:cNvPr>
          <p:cNvSpPr txBox="1"/>
          <p:nvPr/>
        </p:nvSpPr>
        <p:spPr>
          <a:xfrm>
            <a:off x="1102360" y="1075406"/>
            <a:ext cx="9987280" cy="2977482"/>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s-ES" sz="3200" noProof="0" dirty="0">
                <a:latin typeface="Garamond" panose="02020404030301010803" pitchFamily="18" charset="0"/>
              </a:rPr>
              <a:t>La desesperación epistémica requiere unas creencias que el pirrónico </a:t>
            </a:r>
            <a:r>
              <a:rPr lang="es-ES" sz="3200" b="1" noProof="0" dirty="0">
                <a:latin typeface="Garamond" panose="02020404030301010803" pitchFamily="18" charset="0"/>
              </a:rPr>
              <a:t>no</a:t>
            </a:r>
            <a:r>
              <a:rPr lang="es-ES" sz="3200" noProof="0" dirty="0">
                <a:latin typeface="Garamond" panose="02020404030301010803" pitchFamily="18" charset="0"/>
              </a:rPr>
              <a:t> tiene.</a:t>
            </a:r>
          </a:p>
          <a:p>
            <a:pPr marL="457200" indent="-457200">
              <a:lnSpc>
                <a:spcPct val="150000"/>
              </a:lnSpc>
              <a:buFont typeface="Arial" panose="020B0604020202020204" pitchFamily="34" charset="0"/>
              <a:buChar char="•"/>
            </a:pPr>
            <a:r>
              <a:rPr lang="es-ES" sz="3200" noProof="0" dirty="0">
                <a:latin typeface="Garamond" panose="02020404030301010803" pitchFamily="18" charset="0"/>
              </a:rPr>
              <a:t>Es </a:t>
            </a:r>
            <a:r>
              <a:rPr lang="es-ES" sz="3200" b="1" noProof="0" dirty="0">
                <a:latin typeface="Garamond" panose="02020404030301010803" pitchFamily="18" charset="0"/>
              </a:rPr>
              <a:t>incompatible</a:t>
            </a:r>
            <a:r>
              <a:rPr lang="es-ES" sz="3200" noProof="0" dirty="0">
                <a:latin typeface="Garamond" panose="02020404030301010803" pitchFamily="18" charset="0"/>
              </a:rPr>
              <a:t> </a:t>
            </a:r>
            <a:r>
              <a:rPr lang="es-ES" sz="3200" dirty="0">
                <a:latin typeface="Garamond" panose="02020404030301010803" pitchFamily="18" charset="0"/>
              </a:rPr>
              <a:t>con la </a:t>
            </a:r>
            <a:r>
              <a:rPr lang="es-ES" sz="3200" i="1" dirty="0">
                <a:latin typeface="Garamond" panose="02020404030301010803" pitchFamily="18" charset="0"/>
              </a:rPr>
              <a:t>ataraxia</a:t>
            </a:r>
            <a:r>
              <a:rPr lang="es-ES" sz="3200" dirty="0">
                <a:latin typeface="Garamond" panose="02020404030301010803" pitchFamily="18" charset="0"/>
              </a:rPr>
              <a:t>.</a:t>
            </a:r>
          </a:p>
          <a:p>
            <a:pPr>
              <a:lnSpc>
                <a:spcPct val="150000"/>
              </a:lnSpc>
            </a:pPr>
            <a:r>
              <a:rPr lang="es-ES" sz="3200" dirty="0">
                <a:latin typeface="Garamond" panose="02020404030301010803" pitchFamily="18" charset="0"/>
                <a:sym typeface="Wingdings" panose="05000000000000000000" pitchFamily="2" charset="2"/>
              </a:rPr>
              <a:t> La </a:t>
            </a:r>
            <a:r>
              <a:rPr lang="es-ES" sz="3200" i="1" dirty="0" err="1">
                <a:latin typeface="Garamond" panose="02020404030301010803" pitchFamily="18" charset="0"/>
                <a:sym typeface="Wingdings" panose="05000000000000000000" pitchFamily="2" charset="2"/>
              </a:rPr>
              <a:t>sképsis</a:t>
            </a:r>
            <a:r>
              <a:rPr lang="es-ES" sz="3200" i="1" dirty="0">
                <a:latin typeface="Garamond" panose="02020404030301010803" pitchFamily="18" charset="0"/>
                <a:sym typeface="Wingdings" panose="05000000000000000000" pitchFamily="2" charset="2"/>
              </a:rPr>
              <a:t> </a:t>
            </a:r>
            <a:r>
              <a:rPr lang="es-ES" sz="3200" dirty="0">
                <a:latin typeface="Garamond" panose="02020404030301010803" pitchFamily="18" charset="0"/>
                <a:sym typeface="Wingdings" panose="05000000000000000000" pitchFamily="2" charset="2"/>
              </a:rPr>
              <a:t>como remedio.</a:t>
            </a:r>
            <a:endParaRPr lang="es-ES" sz="3200" noProof="0" dirty="0">
              <a:latin typeface="Garamond" panose="02020404030301010803" pitchFamily="18" charset="0"/>
            </a:endParaRPr>
          </a:p>
        </p:txBody>
      </p:sp>
    </p:spTree>
    <p:extLst>
      <p:ext uri="{BB962C8B-B14F-4D97-AF65-F5344CB8AC3E}">
        <p14:creationId xmlns:p14="http://schemas.microsoft.com/office/powerpoint/2010/main" val="38117398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Imagen 2" descr="Imagen que contiene persona, hombre, sostener, mujer&#10;&#10;El contenido generado por IA puede ser incorrecto.">
            <a:extLst>
              <a:ext uri="{FF2B5EF4-FFF2-40B4-BE49-F238E27FC236}">
                <a16:creationId xmlns:a16="http://schemas.microsoft.com/office/drawing/2014/main" id="{18CE43AD-BD7F-A313-EF65-B410394AD7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6338" y="0"/>
            <a:ext cx="9279323" cy="6858000"/>
          </a:xfrm>
          <a:prstGeom prst="rect">
            <a:avLst/>
          </a:prstGeom>
        </p:spPr>
      </p:pic>
    </p:spTree>
    <p:extLst>
      <p:ext uri="{BB962C8B-B14F-4D97-AF65-F5344CB8AC3E}">
        <p14:creationId xmlns:p14="http://schemas.microsoft.com/office/powerpoint/2010/main" val="2461521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2885</TotalTime>
  <Words>1420</Words>
  <Application>Microsoft Office PowerPoint</Application>
  <PresentationFormat>Panorámica</PresentationFormat>
  <Paragraphs>84</Paragraphs>
  <Slides>37</Slides>
  <Notes>0</Notes>
  <HiddenSlides>0</HiddenSlides>
  <MMClips>0</MMClips>
  <ScaleCrop>false</ScaleCrop>
  <HeadingPairs>
    <vt:vector size="4" baseType="variant">
      <vt:variant>
        <vt:lpstr>Tema</vt:lpstr>
      </vt:variant>
      <vt:variant>
        <vt:i4>1</vt:i4>
      </vt:variant>
      <vt:variant>
        <vt:lpstr>Títulos de diapositiva</vt:lpstr>
      </vt:variant>
      <vt:variant>
        <vt:i4>37</vt:i4>
      </vt:variant>
    </vt:vector>
  </HeadingPairs>
  <TitlesOfParts>
    <vt:vector size="38"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JULIO PEREZ GARCIA</dc:creator>
  <cp:lastModifiedBy>j p</cp:lastModifiedBy>
  <cp:revision>2</cp:revision>
  <dcterms:created xsi:type="dcterms:W3CDTF">2026-01-30T19:43:47Z</dcterms:created>
  <dcterms:modified xsi:type="dcterms:W3CDTF">2026-03-10T19:40:17Z</dcterms:modified>
</cp:coreProperties>
</file>